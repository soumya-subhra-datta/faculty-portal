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88" r:id="rId2"/>
    <p:sldId id="257" r:id="rId3"/>
    <p:sldId id="258" r:id="rId4"/>
    <p:sldId id="259" r:id="rId5"/>
    <p:sldId id="260" r:id="rId6"/>
    <p:sldId id="261" r:id="rId7"/>
    <p:sldId id="262" r:id="rId8"/>
    <p:sldId id="263" r:id="rId9"/>
    <p:sldId id="289" r:id="rId10"/>
    <p:sldId id="286" r:id="rId11"/>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56" autoAdjust="0"/>
  </p:normalViewPr>
  <p:slideViewPr>
    <p:cSldViewPr>
      <p:cViewPr>
        <p:scale>
          <a:sx n="66" d="100"/>
          <a:sy n="66" d="100"/>
        </p:scale>
        <p:origin x="1930" y="451"/>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792E38D0-3133-4807-A455-F0FE16418EF9}" type="datetimeFigureOut">
              <a:rPr lang="en-IN" smtClean="0"/>
              <a:t>25-02-2026</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B6CDA266-6883-46B2-8E59-44CF54BA5664}" type="slidenum">
              <a:rPr lang="en-IN" smtClean="0"/>
              <a:t>‹#›</a:t>
            </a:fld>
            <a:endParaRPr lang="en-IN"/>
          </a:p>
        </p:txBody>
      </p:sp>
    </p:spTree>
    <p:extLst>
      <p:ext uri="{BB962C8B-B14F-4D97-AF65-F5344CB8AC3E}">
        <p14:creationId xmlns:p14="http://schemas.microsoft.com/office/powerpoint/2010/main" val="3655418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6CDA266-6883-46B2-8E59-44CF54BA5664}" type="slidenum">
              <a:rPr lang="en-IN" smtClean="0"/>
              <a:t>7</a:t>
            </a:fld>
            <a:endParaRPr lang="en-IN"/>
          </a:p>
        </p:txBody>
      </p:sp>
    </p:spTree>
    <p:extLst>
      <p:ext uri="{BB962C8B-B14F-4D97-AF65-F5344CB8AC3E}">
        <p14:creationId xmlns:p14="http://schemas.microsoft.com/office/powerpoint/2010/main" val="6906139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41345" y="454660"/>
            <a:ext cx="2548890" cy="632460"/>
          </a:xfrm>
          <a:prstGeom prst="rect">
            <a:avLst/>
          </a:prstGeom>
        </p:spPr>
        <p:txBody>
          <a:bodyPr wrap="square" lIns="0" tIns="0" rIns="0" bIns="0">
            <a:spAutoFit/>
          </a:bodyPr>
          <a:lstStyle>
            <a:lvl1pPr>
              <a:defRPr sz="3950" b="1" i="0">
                <a:solidFill>
                  <a:schemeClr val="tx1"/>
                </a:solidFill>
                <a:latin typeface="Calibri"/>
                <a:cs typeface="Calibri"/>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ct val="100000"/>
              </a:lnSpc>
              <a:spcBef>
                <a:spcPts val="40"/>
              </a:spcBef>
            </a:pPr>
            <a:r>
              <a:rPr dirty="0"/>
              <a:t>21</a:t>
            </a:r>
            <a:r>
              <a:rPr spc="-5" dirty="0"/>
              <a:t> </a:t>
            </a:r>
            <a:r>
              <a:rPr dirty="0"/>
              <a:t>April</a:t>
            </a:r>
            <a:r>
              <a:rPr spc="-40" dirty="0"/>
              <a:t> </a:t>
            </a:r>
            <a:r>
              <a:rPr spc="-20" dirty="0"/>
              <a:t>2025</a:t>
            </a:r>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ct val="100000"/>
              </a:lnSpc>
              <a:spcBef>
                <a:spcPts val="40"/>
              </a:spcBef>
            </a:pPr>
            <a:r>
              <a:rPr dirty="0"/>
              <a:t>School</a:t>
            </a:r>
            <a:r>
              <a:rPr spc="-35" dirty="0"/>
              <a:t> </a:t>
            </a:r>
            <a:r>
              <a:rPr dirty="0"/>
              <a:t>of</a:t>
            </a:r>
            <a:r>
              <a:rPr spc="15" dirty="0"/>
              <a:t> </a:t>
            </a:r>
            <a:r>
              <a:rPr dirty="0"/>
              <a:t>Computing</a:t>
            </a:r>
            <a:r>
              <a:rPr spc="-35" dirty="0"/>
              <a:t> </a:t>
            </a:r>
            <a:r>
              <a:rPr dirty="0"/>
              <a:t>-</a:t>
            </a:r>
            <a:r>
              <a:rPr spc="-15" dirty="0"/>
              <a:t> </a:t>
            </a:r>
            <a:r>
              <a:rPr spc="-25" dirty="0"/>
              <a:t>CSE</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ct val="100000"/>
              </a:lnSpc>
              <a:spcBef>
                <a:spcPts val="40"/>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ct val="100000"/>
              </a:lnSpc>
              <a:spcBef>
                <a:spcPts val="40"/>
              </a:spcBef>
            </a:pPr>
            <a:r>
              <a:rPr dirty="0"/>
              <a:t>21</a:t>
            </a:r>
            <a:r>
              <a:rPr spc="-5" dirty="0"/>
              <a:t> </a:t>
            </a:r>
            <a:r>
              <a:rPr dirty="0"/>
              <a:t>April</a:t>
            </a:r>
            <a:r>
              <a:rPr spc="-40" dirty="0"/>
              <a:t> </a:t>
            </a:r>
            <a:r>
              <a:rPr spc="-20" dirty="0"/>
              <a:t>2025</a:t>
            </a:r>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ct val="100000"/>
              </a:lnSpc>
              <a:spcBef>
                <a:spcPts val="40"/>
              </a:spcBef>
            </a:pPr>
            <a:r>
              <a:rPr dirty="0"/>
              <a:t>School</a:t>
            </a:r>
            <a:r>
              <a:rPr spc="-35" dirty="0"/>
              <a:t> </a:t>
            </a:r>
            <a:r>
              <a:rPr dirty="0"/>
              <a:t>of</a:t>
            </a:r>
            <a:r>
              <a:rPr spc="15" dirty="0"/>
              <a:t> </a:t>
            </a:r>
            <a:r>
              <a:rPr dirty="0"/>
              <a:t>Computing</a:t>
            </a:r>
            <a:r>
              <a:rPr spc="-35" dirty="0"/>
              <a:t> </a:t>
            </a:r>
            <a:r>
              <a:rPr dirty="0"/>
              <a:t>-</a:t>
            </a:r>
            <a:r>
              <a:rPr spc="-15" dirty="0"/>
              <a:t> </a:t>
            </a:r>
            <a:r>
              <a:rPr spc="-25" dirty="0"/>
              <a:t>CSE</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ct val="100000"/>
              </a:lnSpc>
              <a:spcBef>
                <a:spcPts val="40"/>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tx1"/>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ct val="100000"/>
              </a:lnSpc>
              <a:spcBef>
                <a:spcPts val="40"/>
              </a:spcBef>
            </a:pPr>
            <a:r>
              <a:rPr dirty="0"/>
              <a:t>21</a:t>
            </a:r>
            <a:r>
              <a:rPr spc="-5" dirty="0"/>
              <a:t> </a:t>
            </a:r>
            <a:r>
              <a:rPr dirty="0"/>
              <a:t>April</a:t>
            </a:r>
            <a:r>
              <a:rPr spc="-40" dirty="0"/>
              <a:t> </a:t>
            </a:r>
            <a:r>
              <a:rPr spc="-20" dirty="0"/>
              <a:t>2025</a:t>
            </a:r>
          </a:p>
        </p:txBody>
      </p:sp>
      <p:sp>
        <p:nvSpPr>
          <p:cNvPr id="6" name="Holder 6"/>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ct val="100000"/>
              </a:lnSpc>
              <a:spcBef>
                <a:spcPts val="40"/>
              </a:spcBef>
            </a:pPr>
            <a:r>
              <a:rPr dirty="0"/>
              <a:t>School</a:t>
            </a:r>
            <a:r>
              <a:rPr spc="-35" dirty="0"/>
              <a:t> </a:t>
            </a:r>
            <a:r>
              <a:rPr dirty="0"/>
              <a:t>of</a:t>
            </a:r>
            <a:r>
              <a:rPr spc="15" dirty="0"/>
              <a:t> </a:t>
            </a:r>
            <a:r>
              <a:rPr dirty="0"/>
              <a:t>Computing</a:t>
            </a:r>
            <a:r>
              <a:rPr spc="-35" dirty="0"/>
              <a:t> </a:t>
            </a:r>
            <a:r>
              <a:rPr dirty="0"/>
              <a:t>-</a:t>
            </a:r>
            <a:r>
              <a:rPr spc="-15" dirty="0"/>
              <a:t> </a:t>
            </a:r>
            <a:r>
              <a:rPr spc="-25" dirty="0"/>
              <a:t>CSE</a:t>
            </a:r>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ct val="100000"/>
              </a:lnSpc>
              <a:spcBef>
                <a:spcPts val="40"/>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ct val="100000"/>
              </a:lnSpc>
              <a:spcBef>
                <a:spcPts val="40"/>
              </a:spcBef>
            </a:pPr>
            <a:r>
              <a:rPr dirty="0"/>
              <a:t>21</a:t>
            </a:r>
            <a:r>
              <a:rPr spc="-5" dirty="0"/>
              <a:t> </a:t>
            </a:r>
            <a:r>
              <a:rPr dirty="0"/>
              <a:t>April</a:t>
            </a:r>
            <a:r>
              <a:rPr spc="-40" dirty="0"/>
              <a:t> </a:t>
            </a:r>
            <a:r>
              <a:rPr spc="-20" dirty="0"/>
              <a:t>2025</a:t>
            </a:r>
          </a:p>
        </p:txBody>
      </p:sp>
      <p:sp>
        <p:nvSpPr>
          <p:cNvPr id="4" name="Holder 4"/>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ct val="100000"/>
              </a:lnSpc>
              <a:spcBef>
                <a:spcPts val="40"/>
              </a:spcBef>
            </a:pPr>
            <a:r>
              <a:rPr dirty="0"/>
              <a:t>School</a:t>
            </a:r>
            <a:r>
              <a:rPr spc="-35" dirty="0"/>
              <a:t> </a:t>
            </a:r>
            <a:r>
              <a:rPr dirty="0"/>
              <a:t>of</a:t>
            </a:r>
            <a:r>
              <a:rPr spc="15" dirty="0"/>
              <a:t> </a:t>
            </a:r>
            <a:r>
              <a:rPr dirty="0"/>
              <a:t>Computing</a:t>
            </a:r>
            <a:r>
              <a:rPr spc="-35" dirty="0"/>
              <a:t> </a:t>
            </a:r>
            <a:r>
              <a:rPr dirty="0"/>
              <a:t>-</a:t>
            </a:r>
            <a:r>
              <a:rPr spc="-15" dirty="0"/>
              <a:t> </a:t>
            </a:r>
            <a:r>
              <a:rPr spc="-25" dirty="0"/>
              <a:t>CSE</a:t>
            </a:r>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ct val="100000"/>
              </a:lnSpc>
              <a:spcBef>
                <a:spcPts val="40"/>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ct val="100000"/>
              </a:lnSpc>
              <a:spcBef>
                <a:spcPts val="40"/>
              </a:spcBef>
            </a:pPr>
            <a:r>
              <a:rPr dirty="0"/>
              <a:t>21</a:t>
            </a:r>
            <a:r>
              <a:rPr spc="-5" dirty="0"/>
              <a:t> </a:t>
            </a:r>
            <a:r>
              <a:rPr dirty="0"/>
              <a:t>April</a:t>
            </a:r>
            <a:r>
              <a:rPr spc="-40" dirty="0"/>
              <a:t> </a:t>
            </a:r>
            <a:r>
              <a:rPr spc="-20" dirty="0"/>
              <a:t>2025</a:t>
            </a:r>
          </a:p>
        </p:txBody>
      </p:sp>
      <p:sp>
        <p:nvSpPr>
          <p:cNvPr id="3" name="Holder 3"/>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ct val="100000"/>
              </a:lnSpc>
              <a:spcBef>
                <a:spcPts val="40"/>
              </a:spcBef>
            </a:pPr>
            <a:r>
              <a:rPr dirty="0"/>
              <a:t>School</a:t>
            </a:r>
            <a:r>
              <a:rPr spc="-35" dirty="0"/>
              <a:t> </a:t>
            </a:r>
            <a:r>
              <a:rPr dirty="0"/>
              <a:t>of</a:t>
            </a:r>
            <a:r>
              <a:rPr spc="15" dirty="0"/>
              <a:t> </a:t>
            </a:r>
            <a:r>
              <a:rPr dirty="0"/>
              <a:t>Computing</a:t>
            </a:r>
            <a:r>
              <a:rPr spc="-35" dirty="0"/>
              <a:t> </a:t>
            </a:r>
            <a:r>
              <a:rPr dirty="0"/>
              <a:t>-</a:t>
            </a:r>
            <a:r>
              <a:rPr spc="-15" dirty="0"/>
              <a:t> </a:t>
            </a:r>
            <a:r>
              <a:rPr spc="-25" dirty="0"/>
              <a:t>CSE</a:t>
            </a:r>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ct val="100000"/>
              </a:lnSpc>
              <a:spcBef>
                <a:spcPts val="40"/>
              </a:spcBef>
            </a:pPr>
            <a:fld id="{81D60167-4931-47E6-BA6A-407CBD079E47}" type="slidenum">
              <a:rPr spc="-25" dirty="0"/>
              <a:t>‹#›</a:t>
            </a:fld>
            <a:endParaRPr spc="-25"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15"/>
        <p:cNvGrpSpPr/>
        <p:nvPr/>
      </p:nvGrpSpPr>
      <p:grpSpPr>
        <a:xfrm>
          <a:off x="0" y="0"/>
          <a:ext cx="0" cy="0"/>
          <a:chOff x="0" y="0"/>
          <a:chExt cx="0" cy="0"/>
        </a:xfrm>
      </p:grpSpPr>
      <p:sp>
        <p:nvSpPr>
          <p:cNvPr id="16" name="Google Shape;16;p12"/>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2"/>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2400"/>
              <a:buNone/>
              <a:defRPr sz="1800"/>
            </a:lvl1pPr>
            <a:lvl2pPr lvl="1" algn="ctr">
              <a:lnSpc>
                <a:spcPct val="90000"/>
              </a:lnSpc>
              <a:spcBef>
                <a:spcPts val="375"/>
              </a:spcBef>
              <a:spcAft>
                <a:spcPts val="0"/>
              </a:spcAft>
              <a:buClr>
                <a:schemeClr val="dk1"/>
              </a:buClr>
              <a:buSzPts val="2000"/>
              <a:buNone/>
              <a:defRPr sz="1500"/>
            </a:lvl2pPr>
            <a:lvl3pPr lvl="2" algn="ctr">
              <a:lnSpc>
                <a:spcPct val="90000"/>
              </a:lnSpc>
              <a:spcBef>
                <a:spcPts val="375"/>
              </a:spcBef>
              <a:spcAft>
                <a:spcPts val="0"/>
              </a:spcAft>
              <a:buClr>
                <a:schemeClr val="dk1"/>
              </a:buClr>
              <a:buSzPts val="1800"/>
              <a:buNone/>
              <a:defRPr sz="1350"/>
            </a:lvl3pPr>
            <a:lvl4pPr lvl="3" algn="ctr">
              <a:lnSpc>
                <a:spcPct val="90000"/>
              </a:lnSpc>
              <a:spcBef>
                <a:spcPts val="375"/>
              </a:spcBef>
              <a:spcAft>
                <a:spcPts val="0"/>
              </a:spcAft>
              <a:buClr>
                <a:schemeClr val="dk1"/>
              </a:buClr>
              <a:buSzPts val="1600"/>
              <a:buNone/>
              <a:defRPr sz="1200"/>
            </a:lvl4pPr>
            <a:lvl5pPr lvl="4" algn="ctr">
              <a:lnSpc>
                <a:spcPct val="90000"/>
              </a:lnSpc>
              <a:spcBef>
                <a:spcPts val="375"/>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sp>
        <p:nvSpPr>
          <p:cNvPr id="18" name="Google Shape;18;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rtl="0"/>
            <a:fld id="{00000000-1234-1234-1234-123412341234}" type="slidenum">
              <a:rPr lang="en-IN" smtClean="0"/>
              <a:pPr rtl="0"/>
              <a:t>‹#›</a:t>
            </a:fld>
            <a:endParaRPr lang="en-IN"/>
          </a:p>
        </p:txBody>
      </p:sp>
    </p:spTree>
    <p:extLst>
      <p:ext uri="{BB962C8B-B14F-4D97-AF65-F5344CB8AC3E}">
        <p14:creationId xmlns:p14="http://schemas.microsoft.com/office/powerpoint/2010/main" val="41355772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0037" y="185737"/>
            <a:ext cx="8610600" cy="6553200"/>
          </a:xfrm>
          <a:custGeom>
            <a:avLst/>
            <a:gdLst/>
            <a:ahLst/>
            <a:cxnLst/>
            <a:rect l="l" t="t" r="r" b="b"/>
            <a:pathLst>
              <a:path w="8610600" h="6553200">
                <a:moveTo>
                  <a:pt x="0" y="6553200"/>
                </a:moveTo>
                <a:lnTo>
                  <a:pt x="8610600" y="6553200"/>
                </a:lnTo>
                <a:lnTo>
                  <a:pt x="8610600" y="0"/>
                </a:lnTo>
                <a:lnTo>
                  <a:pt x="0" y="0"/>
                </a:lnTo>
                <a:lnTo>
                  <a:pt x="0" y="6553200"/>
                </a:lnTo>
                <a:close/>
              </a:path>
            </a:pathLst>
          </a:custGeom>
          <a:ln w="25400">
            <a:solidFill>
              <a:srgbClr val="385D89"/>
            </a:solidFill>
          </a:ln>
        </p:spPr>
        <p:txBody>
          <a:bodyPr wrap="square" lIns="0" tIns="0" rIns="0" bIns="0" rtlCol="0"/>
          <a:lstStyle/>
          <a:p>
            <a:endParaRPr/>
          </a:p>
        </p:txBody>
      </p:sp>
      <p:sp>
        <p:nvSpPr>
          <p:cNvPr id="17" name="bg object 17"/>
          <p:cNvSpPr/>
          <p:nvPr/>
        </p:nvSpPr>
        <p:spPr>
          <a:xfrm>
            <a:off x="300037" y="1224025"/>
            <a:ext cx="8611235" cy="1905"/>
          </a:xfrm>
          <a:custGeom>
            <a:avLst/>
            <a:gdLst/>
            <a:ahLst/>
            <a:cxnLst/>
            <a:rect l="l" t="t" r="r" b="b"/>
            <a:pathLst>
              <a:path w="8611235" h="1905">
                <a:moveTo>
                  <a:pt x="0" y="0"/>
                </a:moveTo>
                <a:lnTo>
                  <a:pt x="8610663" y="1524"/>
                </a:lnTo>
              </a:path>
            </a:pathLst>
          </a:custGeom>
          <a:ln w="25400">
            <a:solidFill>
              <a:srgbClr val="1F487C"/>
            </a:solidFill>
          </a:ln>
        </p:spPr>
        <p:txBody>
          <a:bodyPr wrap="square" lIns="0" tIns="0" rIns="0" bIns="0" rtlCol="0"/>
          <a:lstStyle/>
          <a:p>
            <a:endParaRPr/>
          </a:p>
        </p:txBody>
      </p:sp>
      <p:sp>
        <p:nvSpPr>
          <p:cNvPr id="2" name="Holder 2"/>
          <p:cNvSpPr>
            <a:spLocks noGrp="1"/>
          </p:cNvSpPr>
          <p:nvPr>
            <p:ph type="title"/>
          </p:nvPr>
        </p:nvSpPr>
        <p:spPr>
          <a:xfrm>
            <a:off x="623569" y="454660"/>
            <a:ext cx="7576820" cy="632460"/>
          </a:xfrm>
          <a:prstGeom prst="rect">
            <a:avLst/>
          </a:prstGeom>
        </p:spPr>
        <p:txBody>
          <a:bodyPr wrap="square" lIns="0" tIns="0" rIns="0" bIns="0">
            <a:spAutoFit/>
          </a:bodyPr>
          <a:lstStyle>
            <a:lvl1pPr>
              <a:defRPr sz="3950" b="1" i="0">
                <a:solidFill>
                  <a:schemeClr val="tx1"/>
                </a:solidFill>
                <a:latin typeface="Calibri"/>
                <a:cs typeface="Calibri"/>
              </a:defRPr>
            </a:lvl1pPr>
          </a:lstStyle>
          <a:p>
            <a:endParaRPr/>
          </a:p>
        </p:txBody>
      </p:sp>
      <p:sp>
        <p:nvSpPr>
          <p:cNvPr id="3" name="Holder 3"/>
          <p:cNvSpPr>
            <a:spLocks noGrp="1"/>
          </p:cNvSpPr>
          <p:nvPr>
            <p:ph type="body" idx="1"/>
          </p:nvPr>
        </p:nvSpPr>
        <p:spPr>
          <a:xfrm>
            <a:off x="525145" y="1616074"/>
            <a:ext cx="8093709" cy="3978910"/>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536575" y="6441747"/>
            <a:ext cx="854710" cy="21145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ct val="100000"/>
              </a:lnSpc>
              <a:spcBef>
                <a:spcPts val="40"/>
              </a:spcBef>
            </a:pPr>
            <a:r>
              <a:rPr dirty="0"/>
              <a:t>21</a:t>
            </a:r>
            <a:r>
              <a:rPr spc="-5" dirty="0"/>
              <a:t> </a:t>
            </a:r>
            <a:r>
              <a:rPr dirty="0"/>
              <a:t>April</a:t>
            </a:r>
            <a:r>
              <a:rPr spc="-40" dirty="0"/>
              <a:t> </a:t>
            </a:r>
            <a:r>
              <a:rPr spc="-20" dirty="0"/>
              <a:t>2025</a:t>
            </a:r>
          </a:p>
        </p:txBody>
      </p:sp>
      <p:sp>
        <p:nvSpPr>
          <p:cNvPr id="5" name="Holder 5"/>
          <p:cNvSpPr>
            <a:spLocks noGrp="1"/>
          </p:cNvSpPr>
          <p:nvPr>
            <p:ph type="dt" sz="half" idx="6"/>
          </p:nvPr>
        </p:nvSpPr>
        <p:spPr>
          <a:xfrm>
            <a:off x="3748659" y="6441747"/>
            <a:ext cx="1657350" cy="21145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ct val="100000"/>
              </a:lnSpc>
              <a:spcBef>
                <a:spcPts val="40"/>
              </a:spcBef>
            </a:pPr>
            <a:r>
              <a:rPr dirty="0"/>
              <a:t>School</a:t>
            </a:r>
            <a:r>
              <a:rPr spc="-35" dirty="0"/>
              <a:t> </a:t>
            </a:r>
            <a:r>
              <a:rPr dirty="0"/>
              <a:t>of</a:t>
            </a:r>
            <a:r>
              <a:rPr spc="15" dirty="0"/>
              <a:t> </a:t>
            </a:r>
            <a:r>
              <a:rPr dirty="0"/>
              <a:t>Computing</a:t>
            </a:r>
            <a:r>
              <a:rPr spc="-35" dirty="0"/>
              <a:t> </a:t>
            </a:r>
            <a:r>
              <a:rPr dirty="0"/>
              <a:t>-</a:t>
            </a:r>
            <a:r>
              <a:rPr spc="-15" dirty="0"/>
              <a:t> </a:t>
            </a:r>
            <a:r>
              <a:rPr spc="-25" dirty="0"/>
              <a:t>CSE</a:t>
            </a:r>
          </a:p>
        </p:txBody>
      </p:sp>
      <p:sp>
        <p:nvSpPr>
          <p:cNvPr id="6" name="Holder 6"/>
          <p:cNvSpPr>
            <a:spLocks noGrp="1"/>
          </p:cNvSpPr>
          <p:nvPr>
            <p:ph type="sldNum" sz="quarter" idx="7"/>
          </p:nvPr>
        </p:nvSpPr>
        <p:spPr>
          <a:xfrm>
            <a:off x="8434705" y="6441747"/>
            <a:ext cx="215900" cy="21145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ct val="100000"/>
              </a:lnSpc>
              <a:spcBef>
                <a:spcPts val="40"/>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8"/>
        <p:cNvGrpSpPr/>
        <p:nvPr/>
      </p:nvGrpSpPr>
      <p:grpSpPr>
        <a:xfrm>
          <a:off x="0" y="0"/>
          <a:ext cx="0" cy="0"/>
          <a:chOff x="0" y="0"/>
          <a:chExt cx="0" cy="0"/>
        </a:xfrm>
      </p:grpSpPr>
      <p:sp>
        <p:nvSpPr>
          <p:cNvPr id="89" name="Google Shape;89;p1"/>
          <p:cNvSpPr txBox="1">
            <a:spLocks noGrp="1"/>
          </p:cNvSpPr>
          <p:nvPr>
            <p:ph type="ctrTitle"/>
          </p:nvPr>
        </p:nvSpPr>
        <p:spPr>
          <a:xfrm>
            <a:off x="1075592" y="1604336"/>
            <a:ext cx="6992816" cy="1241822"/>
          </a:xfrm>
          <a:prstGeom prst="rect">
            <a:avLst/>
          </a:prstGeom>
          <a:solidFill>
            <a:srgbClr val="00B0F0"/>
          </a:solidFill>
          <a:ln>
            <a:noFill/>
          </a:ln>
        </p:spPr>
        <p:txBody>
          <a:bodyPr spcFirstLastPara="1" wrap="square" lIns="68569" tIns="34275" rIns="68569" bIns="34275" anchor="ctr" anchorCtr="0">
            <a:normAutofit/>
          </a:bodyPr>
          <a:lstStyle/>
          <a:p>
            <a:pPr lvl="0">
              <a:buSzPct val="100000"/>
            </a:pPr>
            <a:r>
              <a:rPr lang="en-US" sz="2700" spc="-8" dirty="0">
                <a:latin typeface="Arial MT"/>
                <a:cs typeface="Arial MT"/>
              </a:rPr>
              <a:t>CYBER ATTACK DETECTION AND PREVENTION</a:t>
            </a:r>
            <a:endParaRPr sz="2700" dirty="0">
              <a:latin typeface="Times New Roman"/>
              <a:ea typeface="Times New Roman"/>
              <a:cs typeface="Times New Roman"/>
              <a:sym typeface="Times New Roman"/>
            </a:endParaRPr>
          </a:p>
        </p:txBody>
      </p:sp>
      <p:sp>
        <p:nvSpPr>
          <p:cNvPr id="91" name="Google Shape;91;p1"/>
          <p:cNvSpPr txBox="1">
            <a:spLocks noGrp="1"/>
          </p:cNvSpPr>
          <p:nvPr>
            <p:ph type="sldNum" idx="12"/>
          </p:nvPr>
        </p:nvSpPr>
        <p:spPr>
          <a:xfrm>
            <a:off x="6457950" y="5624513"/>
            <a:ext cx="2057400" cy="273844"/>
          </a:xfrm>
          <a:prstGeom prst="rect">
            <a:avLst/>
          </a:prstGeom>
          <a:noFill/>
          <a:ln>
            <a:noFill/>
          </a:ln>
        </p:spPr>
        <p:txBody>
          <a:bodyPr spcFirstLastPara="1" wrap="square" lIns="68569" tIns="34275" rIns="68569" bIns="34275" anchor="ctr" anchorCtr="0">
            <a:noAutofit/>
          </a:bodyPr>
          <a:lstStyle/>
          <a:p>
            <a:pPr rtl="0"/>
            <a:fld id="{00000000-1234-1234-1234-123412341234}" type="slidenum">
              <a:rPr lang="en-IN"/>
              <a:pPr rtl="0"/>
              <a:t>1</a:t>
            </a:fld>
            <a:endParaRPr dirty="0"/>
          </a:p>
        </p:txBody>
      </p:sp>
      <p:pic>
        <p:nvPicPr>
          <p:cNvPr id="92" name="Google Shape;92;p1"/>
          <p:cNvPicPr preferRelativeResize="0"/>
          <p:nvPr/>
        </p:nvPicPr>
        <p:blipFill rotWithShape="1">
          <a:blip r:embed="rId3">
            <a:alphaModFix/>
          </a:blip>
          <a:srcRect/>
          <a:stretch/>
        </p:blipFill>
        <p:spPr>
          <a:xfrm>
            <a:off x="1" y="0"/>
            <a:ext cx="9143999" cy="1287092"/>
          </a:xfrm>
          <a:prstGeom prst="rect">
            <a:avLst/>
          </a:prstGeom>
          <a:noFill/>
          <a:ln>
            <a:noFill/>
          </a:ln>
        </p:spPr>
      </p:pic>
      <p:sp>
        <p:nvSpPr>
          <p:cNvPr id="3" name="Rectangle 2">
            <a:extLst>
              <a:ext uri="{FF2B5EF4-FFF2-40B4-BE49-F238E27FC236}">
                <a16:creationId xmlns:a16="http://schemas.microsoft.com/office/drawing/2014/main" id="{D4D52855-409F-32EC-A36F-2F4255C38060}"/>
              </a:ext>
            </a:extLst>
          </p:cNvPr>
          <p:cNvSpPr/>
          <p:nvPr/>
        </p:nvSpPr>
        <p:spPr>
          <a:xfrm>
            <a:off x="152400" y="1287092"/>
            <a:ext cx="304800" cy="54947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4" name="Rectangle 3">
            <a:extLst>
              <a:ext uri="{FF2B5EF4-FFF2-40B4-BE49-F238E27FC236}">
                <a16:creationId xmlns:a16="http://schemas.microsoft.com/office/drawing/2014/main" id="{3BEF9598-9F4B-18D0-A2E9-01F6042FE25B}"/>
              </a:ext>
            </a:extLst>
          </p:cNvPr>
          <p:cNvSpPr/>
          <p:nvPr/>
        </p:nvSpPr>
        <p:spPr>
          <a:xfrm>
            <a:off x="457200" y="6629400"/>
            <a:ext cx="8534400" cy="152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CA0FB859-9DC8-1D75-B09A-0290BA02F1CB}"/>
              </a:ext>
            </a:extLst>
          </p:cNvPr>
          <p:cNvSpPr/>
          <p:nvPr/>
        </p:nvSpPr>
        <p:spPr>
          <a:xfrm>
            <a:off x="8757138" y="1287092"/>
            <a:ext cx="234462" cy="54947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6" name="object 9">
            <a:extLst>
              <a:ext uri="{FF2B5EF4-FFF2-40B4-BE49-F238E27FC236}">
                <a16:creationId xmlns:a16="http://schemas.microsoft.com/office/drawing/2014/main" id="{AFE5BA75-F098-2ACE-CD12-8AFB98EFFF47}"/>
              </a:ext>
            </a:extLst>
          </p:cNvPr>
          <p:cNvGraphicFramePr>
            <a:graphicFrameLocks noGrp="1"/>
          </p:cNvGraphicFramePr>
          <p:nvPr>
            <p:extLst>
              <p:ext uri="{D42A27DB-BD31-4B8C-83A1-F6EECF244321}">
                <p14:modId xmlns:p14="http://schemas.microsoft.com/office/powerpoint/2010/main" val="4267119751"/>
              </p:ext>
            </p:extLst>
          </p:nvPr>
        </p:nvGraphicFramePr>
        <p:xfrm>
          <a:off x="5009905" y="4727179"/>
          <a:ext cx="3626339" cy="1536700"/>
        </p:xfrm>
        <a:graphic>
          <a:graphicData uri="http://schemas.openxmlformats.org/drawingml/2006/table">
            <a:tbl>
              <a:tblPr firstRow="1" bandRow="1">
                <a:tableStyleId>{2D5ABB26-0587-4C30-8999-92F81FD0307C}</a:tableStyleId>
              </a:tblPr>
              <a:tblGrid>
                <a:gridCol w="2560174">
                  <a:extLst>
                    <a:ext uri="{9D8B030D-6E8A-4147-A177-3AD203B41FA5}">
                      <a16:colId xmlns:a16="http://schemas.microsoft.com/office/drawing/2014/main" val="20000"/>
                    </a:ext>
                  </a:extLst>
                </a:gridCol>
                <a:gridCol w="1066165">
                  <a:extLst>
                    <a:ext uri="{9D8B030D-6E8A-4147-A177-3AD203B41FA5}">
                      <a16:colId xmlns:a16="http://schemas.microsoft.com/office/drawing/2014/main" val="20001"/>
                    </a:ext>
                  </a:extLst>
                </a:gridCol>
              </a:tblGrid>
              <a:tr h="290683">
                <a:tc>
                  <a:txBody>
                    <a:bodyPr/>
                    <a:lstStyle/>
                    <a:p>
                      <a:pPr marL="31750">
                        <a:lnSpc>
                          <a:spcPts val="2505"/>
                        </a:lnSpc>
                      </a:pPr>
                      <a:r>
                        <a:rPr sz="2150" b="1" spc="-10" dirty="0">
                          <a:latin typeface="Calibri"/>
                          <a:cs typeface="Calibri"/>
                        </a:rPr>
                        <a:t>STUDENTS</a:t>
                      </a:r>
                      <a:endParaRPr sz="2150">
                        <a:latin typeface="Calibri"/>
                        <a:cs typeface="Calibri"/>
                      </a:endParaRPr>
                    </a:p>
                  </a:txBody>
                  <a:tcPr marL="0" marR="0" marT="0" marB="0"/>
                </a:tc>
                <a:tc>
                  <a:txBody>
                    <a:bodyPr/>
                    <a:lstStyle/>
                    <a:p>
                      <a:pPr>
                        <a:lnSpc>
                          <a:spcPct val="100000"/>
                        </a:lnSpc>
                      </a:pPr>
                      <a:endParaRPr sz="1600">
                        <a:latin typeface="Times New Roman"/>
                        <a:cs typeface="Times New Roman"/>
                      </a:endParaRPr>
                    </a:p>
                  </a:txBody>
                  <a:tcPr marL="0" marR="0" marT="0" marB="0"/>
                </a:tc>
                <a:extLst>
                  <a:ext uri="{0D108BD9-81ED-4DB2-BD59-A6C34878D82A}">
                    <a16:rowId xmlns:a16="http://schemas.microsoft.com/office/drawing/2014/main" val="10000"/>
                  </a:ext>
                </a:extLst>
              </a:tr>
              <a:tr h="184173">
                <a:tc>
                  <a:txBody>
                    <a:bodyPr/>
                    <a:lstStyle/>
                    <a:p>
                      <a:pPr marL="71120">
                        <a:lnSpc>
                          <a:spcPts val="1565"/>
                        </a:lnSpc>
                      </a:pPr>
                      <a:r>
                        <a:rPr lang="en-US" sz="1400" b="1" spc="-20" dirty="0">
                          <a:latin typeface="Calibri"/>
                          <a:cs typeface="Calibri"/>
                        </a:rPr>
                        <a:t>PUDI </a:t>
                      </a:r>
                      <a:r>
                        <a:rPr sz="1400" b="1" spc="-20" dirty="0">
                          <a:latin typeface="Calibri"/>
                          <a:cs typeface="Calibri"/>
                        </a:rPr>
                        <a:t>S</a:t>
                      </a:r>
                      <a:r>
                        <a:rPr lang="en-US" sz="1400" b="1" spc="-20" dirty="0">
                          <a:latin typeface="Calibri"/>
                          <a:cs typeface="Calibri"/>
                        </a:rPr>
                        <a:t>URYA VAMSI</a:t>
                      </a:r>
                      <a:endParaRPr sz="1400" dirty="0">
                        <a:latin typeface="Calibri"/>
                        <a:cs typeface="Calibri"/>
                      </a:endParaRPr>
                    </a:p>
                  </a:txBody>
                  <a:tcPr marL="0" marR="0" marT="0" marB="0"/>
                </a:tc>
                <a:tc>
                  <a:txBody>
                    <a:bodyPr/>
                    <a:lstStyle/>
                    <a:p>
                      <a:pPr marR="40005" algn="r">
                        <a:lnSpc>
                          <a:spcPts val="1565"/>
                        </a:lnSpc>
                      </a:pPr>
                      <a:r>
                        <a:rPr sz="1400" b="1" spc="-10" dirty="0">
                          <a:latin typeface="Calibri"/>
                          <a:cs typeface="Calibri"/>
                        </a:rPr>
                        <a:t>-437311</a:t>
                      </a:r>
                      <a:r>
                        <a:rPr lang="en-US" sz="1400" b="1" spc="-10" dirty="0">
                          <a:latin typeface="Calibri"/>
                          <a:cs typeface="Calibri"/>
                        </a:rPr>
                        <a:t>86</a:t>
                      </a:r>
                      <a:endParaRPr sz="1400" dirty="0">
                        <a:latin typeface="Calibri"/>
                        <a:cs typeface="Calibri"/>
                      </a:endParaRPr>
                    </a:p>
                  </a:txBody>
                  <a:tcPr marL="0" marR="0" marT="0" marB="0"/>
                </a:tc>
                <a:extLst>
                  <a:ext uri="{0D108BD9-81ED-4DB2-BD59-A6C34878D82A}">
                    <a16:rowId xmlns:a16="http://schemas.microsoft.com/office/drawing/2014/main" val="10001"/>
                  </a:ext>
                </a:extLst>
              </a:tr>
              <a:tr h="172543">
                <a:tc>
                  <a:txBody>
                    <a:bodyPr/>
                    <a:lstStyle/>
                    <a:p>
                      <a:pPr marL="71120">
                        <a:lnSpc>
                          <a:spcPts val="1590"/>
                        </a:lnSpc>
                      </a:pPr>
                      <a:r>
                        <a:rPr lang="en-US" sz="1400" b="1" dirty="0">
                          <a:latin typeface="Calibri"/>
                          <a:cs typeface="Calibri"/>
                        </a:rPr>
                        <a:t>AKHIL KANCHI</a:t>
                      </a:r>
                      <a:endParaRPr sz="1400" dirty="0">
                        <a:latin typeface="Calibri"/>
                        <a:cs typeface="Calibri"/>
                      </a:endParaRPr>
                    </a:p>
                  </a:txBody>
                  <a:tcPr marL="0" marR="0" marT="0" marB="0"/>
                </a:tc>
                <a:tc>
                  <a:txBody>
                    <a:bodyPr/>
                    <a:lstStyle/>
                    <a:p>
                      <a:pPr marR="24130" algn="r">
                        <a:lnSpc>
                          <a:spcPts val="1590"/>
                        </a:lnSpc>
                      </a:pPr>
                      <a:r>
                        <a:rPr sz="1400" b="1" spc="-10" dirty="0">
                          <a:latin typeface="Calibri"/>
                          <a:cs typeface="Calibri"/>
                        </a:rPr>
                        <a:t>-437311</a:t>
                      </a:r>
                      <a:r>
                        <a:rPr lang="en-US" sz="1400" b="1" spc="-10" dirty="0">
                          <a:latin typeface="Calibri"/>
                          <a:cs typeface="Calibri"/>
                        </a:rPr>
                        <a:t>72</a:t>
                      </a:r>
                      <a:endParaRPr sz="1400" dirty="0">
                        <a:latin typeface="Calibri"/>
                        <a:cs typeface="Calibri"/>
                      </a:endParaRPr>
                    </a:p>
                  </a:txBody>
                  <a:tcPr marL="0" marR="0" marT="0" marB="0"/>
                </a:tc>
                <a:extLst>
                  <a:ext uri="{0D108BD9-81ED-4DB2-BD59-A6C34878D82A}">
                    <a16:rowId xmlns:a16="http://schemas.microsoft.com/office/drawing/2014/main" val="10002"/>
                  </a:ext>
                </a:extLst>
              </a:tr>
              <a:tr h="186947">
                <a:tc>
                  <a:txBody>
                    <a:bodyPr/>
                    <a:lstStyle/>
                    <a:p>
                      <a:pPr marL="71120">
                        <a:lnSpc>
                          <a:spcPts val="1590"/>
                        </a:lnSpc>
                      </a:pPr>
                      <a:r>
                        <a:rPr lang="en-US" sz="1400" b="1" spc="-25" dirty="0">
                          <a:latin typeface="Calibri"/>
                          <a:cs typeface="Calibri"/>
                        </a:rPr>
                        <a:t>SOUMYA SUBHRA DATTA</a:t>
                      </a:r>
                      <a:endParaRPr sz="1400" dirty="0">
                        <a:latin typeface="Calibri"/>
                        <a:cs typeface="Calibri"/>
                      </a:endParaRPr>
                    </a:p>
                  </a:txBody>
                  <a:tcPr marL="0" marR="0" marT="0" marB="0"/>
                </a:tc>
                <a:tc>
                  <a:txBody>
                    <a:bodyPr/>
                    <a:lstStyle/>
                    <a:p>
                      <a:pPr marR="40005" algn="r">
                        <a:lnSpc>
                          <a:spcPts val="1590"/>
                        </a:lnSpc>
                      </a:pPr>
                      <a:r>
                        <a:rPr sz="1400" b="1" spc="-10" dirty="0">
                          <a:latin typeface="Calibri"/>
                          <a:cs typeface="Calibri"/>
                        </a:rPr>
                        <a:t>-437311</a:t>
                      </a:r>
                      <a:r>
                        <a:rPr lang="en-US" sz="1400" b="1" spc="-10" dirty="0">
                          <a:latin typeface="Calibri"/>
                          <a:cs typeface="Calibri"/>
                        </a:rPr>
                        <a:t>31</a:t>
                      </a:r>
                      <a:endParaRPr sz="1400" dirty="0">
                        <a:latin typeface="Calibri"/>
                        <a:cs typeface="Calibri"/>
                      </a:endParaRPr>
                    </a:p>
                  </a:txBody>
                  <a:tcPr marL="0" marR="0" marT="0" marB="0"/>
                </a:tc>
                <a:extLst>
                  <a:ext uri="{0D108BD9-81ED-4DB2-BD59-A6C34878D82A}">
                    <a16:rowId xmlns:a16="http://schemas.microsoft.com/office/drawing/2014/main" val="10003"/>
                  </a:ext>
                </a:extLst>
              </a:tr>
              <a:tr h="187501">
                <a:tc>
                  <a:txBody>
                    <a:bodyPr/>
                    <a:lstStyle/>
                    <a:p>
                      <a:pPr marL="71120">
                        <a:lnSpc>
                          <a:spcPts val="1590"/>
                        </a:lnSpc>
                      </a:pPr>
                      <a:r>
                        <a:rPr lang="en-US" sz="1400" b="1" spc="-25" dirty="0">
                          <a:latin typeface="Calibri"/>
                          <a:cs typeface="Calibri"/>
                        </a:rPr>
                        <a:t>GOSU MAHENDRA</a:t>
                      </a:r>
                      <a:endParaRPr sz="1400" dirty="0">
                        <a:latin typeface="Calibri"/>
                        <a:cs typeface="Calibri"/>
                      </a:endParaRPr>
                    </a:p>
                  </a:txBody>
                  <a:tcPr marL="0" marR="0" marT="0" marB="0"/>
                </a:tc>
                <a:tc>
                  <a:txBody>
                    <a:bodyPr/>
                    <a:lstStyle/>
                    <a:p>
                      <a:pPr marR="40005" algn="r">
                        <a:lnSpc>
                          <a:spcPts val="1590"/>
                        </a:lnSpc>
                      </a:pPr>
                      <a:r>
                        <a:rPr sz="1400" b="1" spc="-10" dirty="0">
                          <a:latin typeface="Calibri"/>
                          <a:cs typeface="Calibri"/>
                        </a:rPr>
                        <a:t>-437311</a:t>
                      </a:r>
                      <a:r>
                        <a:rPr lang="en-US" sz="1400" b="1" spc="-10" dirty="0">
                          <a:latin typeface="Calibri"/>
                          <a:cs typeface="Calibri"/>
                        </a:rPr>
                        <a:t>59</a:t>
                      </a:r>
                      <a:endParaRPr sz="1400" dirty="0">
                        <a:latin typeface="Calibri"/>
                        <a:cs typeface="Calibri"/>
                      </a:endParaRPr>
                    </a:p>
                  </a:txBody>
                  <a:tcPr marL="0" marR="0" marT="0" marB="0"/>
                </a:tc>
                <a:extLst>
                  <a:ext uri="{0D108BD9-81ED-4DB2-BD59-A6C34878D82A}">
                    <a16:rowId xmlns:a16="http://schemas.microsoft.com/office/drawing/2014/main" val="10004"/>
                  </a:ext>
                </a:extLst>
              </a:tr>
              <a:tr h="186947">
                <a:tc>
                  <a:txBody>
                    <a:bodyPr/>
                    <a:lstStyle/>
                    <a:p>
                      <a:pPr marL="71120">
                        <a:lnSpc>
                          <a:spcPts val="1590"/>
                        </a:lnSpc>
                      </a:pPr>
                      <a:r>
                        <a:rPr sz="1400" b="1" dirty="0">
                          <a:latin typeface="Calibri"/>
                          <a:cs typeface="Calibri"/>
                        </a:rPr>
                        <a:t>YELURI</a:t>
                      </a:r>
                      <a:r>
                        <a:rPr sz="1400" b="1" spc="-80" dirty="0">
                          <a:latin typeface="Calibri"/>
                          <a:cs typeface="Calibri"/>
                        </a:rPr>
                        <a:t> </a:t>
                      </a:r>
                      <a:r>
                        <a:rPr sz="1400" b="1" dirty="0">
                          <a:latin typeface="Calibri"/>
                          <a:cs typeface="Calibri"/>
                        </a:rPr>
                        <a:t>NANDA</a:t>
                      </a:r>
                      <a:r>
                        <a:rPr sz="1400" b="1" spc="-60" dirty="0">
                          <a:latin typeface="Calibri"/>
                          <a:cs typeface="Calibri"/>
                        </a:rPr>
                        <a:t> </a:t>
                      </a:r>
                      <a:r>
                        <a:rPr sz="1400" b="1" spc="-20" dirty="0">
                          <a:latin typeface="Calibri"/>
                          <a:cs typeface="Calibri"/>
                        </a:rPr>
                        <a:t>GOPAL</a:t>
                      </a:r>
                      <a:endParaRPr sz="1400" dirty="0">
                        <a:latin typeface="Calibri"/>
                        <a:cs typeface="Calibri"/>
                      </a:endParaRPr>
                    </a:p>
                  </a:txBody>
                  <a:tcPr marL="0" marR="0" marT="0" marB="0"/>
                </a:tc>
                <a:tc>
                  <a:txBody>
                    <a:bodyPr/>
                    <a:lstStyle/>
                    <a:p>
                      <a:pPr marR="41275" algn="r">
                        <a:lnSpc>
                          <a:spcPts val="1590"/>
                        </a:lnSpc>
                      </a:pPr>
                      <a:r>
                        <a:rPr sz="1400" b="1" spc="-10" dirty="0">
                          <a:latin typeface="Calibri"/>
                          <a:cs typeface="Calibri"/>
                        </a:rPr>
                        <a:t>-43731158</a:t>
                      </a:r>
                      <a:endParaRPr sz="1400" dirty="0">
                        <a:latin typeface="Calibri"/>
                        <a:cs typeface="Calibri"/>
                      </a:endParaRPr>
                    </a:p>
                  </a:txBody>
                  <a:tcPr marL="0" marR="0" marT="0" marB="0"/>
                </a:tc>
                <a:extLst>
                  <a:ext uri="{0D108BD9-81ED-4DB2-BD59-A6C34878D82A}">
                    <a16:rowId xmlns:a16="http://schemas.microsoft.com/office/drawing/2014/main" val="10005"/>
                  </a:ext>
                </a:extLst>
              </a:tr>
              <a:tr h="188056">
                <a:tc>
                  <a:txBody>
                    <a:bodyPr/>
                    <a:lstStyle/>
                    <a:p>
                      <a:pPr marL="71120">
                        <a:lnSpc>
                          <a:spcPts val="1595"/>
                        </a:lnSpc>
                      </a:pPr>
                      <a:endParaRPr sz="1400" dirty="0">
                        <a:latin typeface="Calibri"/>
                        <a:cs typeface="Calibri"/>
                      </a:endParaRPr>
                    </a:p>
                  </a:txBody>
                  <a:tcPr marL="0" marR="0" marT="0" marB="0"/>
                </a:tc>
                <a:tc>
                  <a:txBody>
                    <a:bodyPr/>
                    <a:lstStyle/>
                    <a:p>
                      <a:pPr marR="40005" algn="r">
                        <a:lnSpc>
                          <a:spcPts val="1595"/>
                        </a:lnSpc>
                      </a:pPr>
                      <a:endParaRPr sz="1400" dirty="0">
                        <a:latin typeface="Calibri"/>
                        <a:cs typeface="Calibri"/>
                      </a:endParaRPr>
                    </a:p>
                  </a:txBody>
                  <a:tcPr marL="0" marR="0" marT="0" marB="0"/>
                </a:tc>
                <a:extLst>
                  <a:ext uri="{0D108BD9-81ED-4DB2-BD59-A6C34878D82A}">
                    <a16:rowId xmlns:a16="http://schemas.microsoft.com/office/drawing/2014/main" val="10006"/>
                  </a:ext>
                </a:extLst>
              </a:tr>
            </a:tbl>
          </a:graphicData>
        </a:graphic>
      </p:graphicFrame>
      <p:sp>
        <p:nvSpPr>
          <p:cNvPr id="8" name="TextBox 7">
            <a:extLst>
              <a:ext uri="{FF2B5EF4-FFF2-40B4-BE49-F238E27FC236}">
                <a16:creationId xmlns:a16="http://schemas.microsoft.com/office/drawing/2014/main" id="{45F47D99-EE29-A164-DBC0-08A413BFB04A}"/>
              </a:ext>
            </a:extLst>
          </p:cNvPr>
          <p:cNvSpPr txBox="1"/>
          <p:nvPr/>
        </p:nvSpPr>
        <p:spPr>
          <a:xfrm>
            <a:off x="6096000" y="3948584"/>
            <a:ext cx="4572000" cy="369332"/>
          </a:xfrm>
          <a:prstGeom prst="rect">
            <a:avLst/>
          </a:prstGeom>
          <a:noFill/>
        </p:spPr>
        <p:txBody>
          <a:bodyPr wrap="square">
            <a:spAutoFit/>
          </a:bodyPr>
          <a:lstStyle/>
          <a:p>
            <a:pPr rtl="0">
              <a:spcBef>
                <a:spcPts val="0"/>
              </a:spcBef>
            </a:pPr>
            <a:r>
              <a:rPr lang="en-IN" b="1" dirty="0">
                <a:latin typeface="Times New Roman"/>
                <a:ea typeface="Times New Roman"/>
                <a:cs typeface="Times New Roman"/>
                <a:sym typeface="Times New Roman"/>
              </a:rPr>
              <a:t>Team No – 4</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05200" y="371332"/>
            <a:ext cx="1666239" cy="575310"/>
          </a:xfrm>
          <a:prstGeom prst="rect">
            <a:avLst/>
          </a:prstGeom>
        </p:spPr>
        <p:txBody>
          <a:bodyPr vert="horz" wrap="square" lIns="0" tIns="13335" rIns="0" bIns="0" rtlCol="0">
            <a:spAutoFit/>
          </a:bodyPr>
          <a:lstStyle/>
          <a:p>
            <a:pPr marL="12700">
              <a:lnSpc>
                <a:spcPct val="100000"/>
              </a:lnSpc>
              <a:spcBef>
                <a:spcPts val="105"/>
              </a:spcBef>
            </a:pPr>
            <a:r>
              <a:rPr sz="3600" spc="-25" dirty="0"/>
              <a:t>AGENDA</a:t>
            </a:r>
            <a:endParaRPr sz="3600" dirty="0"/>
          </a:p>
        </p:txBody>
      </p:sp>
      <p:sp>
        <p:nvSpPr>
          <p:cNvPr id="5" name="object 5"/>
          <p:cNvSpPr txBox="1">
            <a:spLocks noGrp="1"/>
          </p:cNvSpPr>
          <p:nvPr>
            <p:ph type="ftr" sz="quarter" idx="5"/>
          </p:nvPr>
        </p:nvSpPr>
        <p:spPr>
          <a:prstGeom prst="rect">
            <a:avLst/>
          </a:prstGeom>
        </p:spPr>
        <p:txBody>
          <a:bodyPr vert="horz" wrap="square" lIns="0" tIns="5080" rIns="0" bIns="0" rtlCol="0">
            <a:spAutoFit/>
          </a:bodyPr>
          <a:lstStyle/>
          <a:p>
            <a:pPr marL="12700">
              <a:lnSpc>
                <a:spcPct val="100000"/>
              </a:lnSpc>
              <a:spcBef>
                <a:spcPts val="40"/>
              </a:spcBef>
            </a:pPr>
            <a:r>
              <a:rPr dirty="0"/>
              <a:t>21</a:t>
            </a:r>
            <a:r>
              <a:rPr spc="-5" dirty="0"/>
              <a:t> </a:t>
            </a:r>
            <a:r>
              <a:rPr dirty="0"/>
              <a:t>April</a:t>
            </a:r>
            <a:r>
              <a:rPr spc="-40" dirty="0"/>
              <a:t> </a:t>
            </a:r>
            <a:r>
              <a:rPr spc="-20" dirty="0"/>
              <a:t>2025</a:t>
            </a:r>
          </a:p>
        </p:txBody>
      </p:sp>
      <p:sp>
        <p:nvSpPr>
          <p:cNvPr id="6" name="object 6"/>
          <p:cNvSpPr txBox="1">
            <a:spLocks noGrp="1"/>
          </p:cNvSpPr>
          <p:nvPr>
            <p:ph type="dt" sz="half" idx="6"/>
          </p:nvPr>
        </p:nvSpPr>
        <p:spPr>
          <a:prstGeom prst="rect">
            <a:avLst/>
          </a:prstGeom>
        </p:spPr>
        <p:txBody>
          <a:bodyPr vert="horz" wrap="square" lIns="0" tIns="5080" rIns="0" bIns="0" rtlCol="0">
            <a:spAutoFit/>
          </a:bodyPr>
          <a:lstStyle/>
          <a:p>
            <a:pPr marL="12700">
              <a:lnSpc>
                <a:spcPct val="100000"/>
              </a:lnSpc>
              <a:spcBef>
                <a:spcPts val="40"/>
              </a:spcBef>
            </a:pPr>
            <a:r>
              <a:rPr dirty="0"/>
              <a:t>School</a:t>
            </a:r>
            <a:r>
              <a:rPr spc="-35" dirty="0"/>
              <a:t> </a:t>
            </a:r>
            <a:r>
              <a:rPr dirty="0"/>
              <a:t>of</a:t>
            </a:r>
            <a:r>
              <a:rPr spc="15" dirty="0"/>
              <a:t> </a:t>
            </a:r>
            <a:r>
              <a:rPr dirty="0"/>
              <a:t>Computing</a:t>
            </a:r>
            <a:r>
              <a:rPr spc="-35" dirty="0"/>
              <a:t> </a:t>
            </a:r>
            <a:r>
              <a:rPr dirty="0"/>
              <a:t>-</a:t>
            </a:r>
            <a:r>
              <a:rPr spc="-15" dirty="0"/>
              <a:t> </a:t>
            </a:r>
            <a:r>
              <a:rPr spc="-25" dirty="0"/>
              <a:t>CSE</a:t>
            </a:r>
          </a:p>
        </p:txBody>
      </p:sp>
      <p:sp>
        <p:nvSpPr>
          <p:cNvPr id="7" name="object 7"/>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fld id="{81D60167-4931-47E6-BA6A-407CBD079E47}" type="slidenum">
              <a:rPr spc="-25" dirty="0"/>
              <a:t>2</a:t>
            </a:fld>
            <a:endParaRPr spc="-25" dirty="0"/>
          </a:p>
        </p:txBody>
      </p:sp>
      <p:sp>
        <p:nvSpPr>
          <p:cNvPr id="8" name="TextBox 7">
            <a:extLst>
              <a:ext uri="{FF2B5EF4-FFF2-40B4-BE49-F238E27FC236}">
                <a16:creationId xmlns:a16="http://schemas.microsoft.com/office/drawing/2014/main" id="{3BED7BD6-B473-815B-39A5-3AE75BA45A3A}"/>
              </a:ext>
            </a:extLst>
          </p:cNvPr>
          <p:cNvSpPr txBox="1"/>
          <p:nvPr/>
        </p:nvSpPr>
        <p:spPr>
          <a:xfrm>
            <a:off x="609600" y="1447800"/>
            <a:ext cx="8193405" cy="3416320"/>
          </a:xfrm>
          <a:prstGeom prst="rect">
            <a:avLst/>
          </a:prstGeom>
          <a:noFill/>
        </p:spPr>
        <p:txBody>
          <a:bodyPr wrap="square" rtlCol="0">
            <a:spAutoFit/>
          </a:bodyPr>
          <a:lstStyle/>
          <a:p>
            <a:pPr marL="342900" indent="-342900">
              <a:buAutoNum type="arabicPeriod"/>
            </a:pPr>
            <a:r>
              <a:rPr lang="en-US" b="1" dirty="0"/>
              <a:t>INTRODUCTION.</a:t>
            </a:r>
          </a:p>
          <a:p>
            <a:pPr marL="342900" indent="-342900">
              <a:buAutoNum type="arabicPeriod"/>
            </a:pPr>
            <a:endParaRPr lang="en-US" b="1" dirty="0"/>
          </a:p>
          <a:p>
            <a:pPr marL="342900" indent="-342900">
              <a:buAutoNum type="arabicPeriod"/>
            </a:pPr>
            <a:r>
              <a:rPr lang="en-US" b="1" dirty="0"/>
              <a:t>PROBLEM STATEMENT.</a:t>
            </a:r>
          </a:p>
          <a:p>
            <a:pPr marL="342900" indent="-342900">
              <a:buAutoNum type="arabicPeriod"/>
            </a:pPr>
            <a:endParaRPr lang="en-US" b="1" dirty="0"/>
          </a:p>
          <a:p>
            <a:pPr marL="342900" indent="-342900">
              <a:buAutoNum type="arabicPeriod"/>
            </a:pPr>
            <a:r>
              <a:rPr lang="en-IN" b="1" dirty="0"/>
              <a:t>EXISTING SOLUTION.</a:t>
            </a:r>
          </a:p>
          <a:p>
            <a:pPr marL="342900" indent="-342900">
              <a:buAutoNum type="arabicPeriod"/>
            </a:pPr>
            <a:endParaRPr lang="en-IN" b="1" dirty="0"/>
          </a:p>
          <a:p>
            <a:pPr marL="342900" indent="-342900">
              <a:buAutoNum type="arabicPeriod"/>
            </a:pPr>
            <a:r>
              <a:rPr lang="en-IN" b="1" dirty="0"/>
              <a:t>EXISTING ARCHITECTURE.</a:t>
            </a:r>
          </a:p>
          <a:p>
            <a:pPr marL="342900" indent="-342900">
              <a:buAutoNum type="arabicPeriod"/>
            </a:pPr>
            <a:endParaRPr lang="en-IN" b="1" dirty="0"/>
          </a:p>
          <a:p>
            <a:pPr marL="342900" indent="-342900">
              <a:buAutoNum type="arabicPeriod"/>
            </a:pPr>
            <a:r>
              <a:rPr lang="en-IN" b="1" dirty="0"/>
              <a:t>PROPOSED SOLUTION.</a:t>
            </a:r>
          </a:p>
          <a:p>
            <a:pPr marL="342900" indent="-342900">
              <a:buAutoNum type="arabicPeriod"/>
            </a:pPr>
            <a:endParaRPr lang="en-IN" b="1" dirty="0"/>
          </a:p>
          <a:p>
            <a:pPr marL="342900" indent="-342900">
              <a:buAutoNum type="arabicPeriod"/>
            </a:pPr>
            <a:r>
              <a:rPr lang="en-IN" b="1" dirty="0"/>
              <a:t>PROPOSED ARCHITECTURE.</a:t>
            </a:r>
          </a:p>
          <a:p>
            <a:pPr marL="342900" indent="-342900">
              <a:buAutoNum type="arabicPeriod"/>
            </a:pPr>
            <a:endParaRPr lang="en-IN"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576820" cy="632460"/>
          </a:xfrm>
          <a:prstGeom prst="rect">
            <a:avLst/>
          </a:prstGeom>
        </p:spPr>
        <p:txBody>
          <a:bodyPr vert="horz" wrap="square" lIns="0" tIns="16510" rIns="0" bIns="0" rtlCol="0">
            <a:spAutoFit/>
          </a:bodyPr>
          <a:lstStyle/>
          <a:p>
            <a:pPr marL="2700020">
              <a:lnSpc>
                <a:spcPct val="100000"/>
              </a:lnSpc>
              <a:spcBef>
                <a:spcPts val="130"/>
              </a:spcBef>
            </a:pPr>
            <a:r>
              <a:rPr lang="en-IN" dirty="0"/>
              <a:t>INTRODUCTION</a:t>
            </a:r>
            <a:endParaRPr spc="-10" dirty="0"/>
          </a:p>
        </p:txBody>
      </p:sp>
      <p:sp>
        <p:nvSpPr>
          <p:cNvPr id="4" name="object 4"/>
          <p:cNvSpPr txBox="1">
            <a:spLocks noGrp="1"/>
          </p:cNvSpPr>
          <p:nvPr>
            <p:ph type="ftr" sz="quarter" idx="5"/>
          </p:nvPr>
        </p:nvSpPr>
        <p:spPr>
          <a:prstGeom prst="rect">
            <a:avLst/>
          </a:prstGeom>
        </p:spPr>
        <p:txBody>
          <a:bodyPr vert="horz" wrap="square" lIns="0" tIns="5080" rIns="0" bIns="0" rtlCol="0">
            <a:spAutoFit/>
          </a:bodyPr>
          <a:lstStyle/>
          <a:p>
            <a:pPr marL="12700">
              <a:lnSpc>
                <a:spcPct val="100000"/>
              </a:lnSpc>
              <a:spcBef>
                <a:spcPts val="40"/>
              </a:spcBef>
            </a:pPr>
            <a:r>
              <a:rPr dirty="0"/>
              <a:t>21</a:t>
            </a:r>
            <a:r>
              <a:rPr spc="-5" dirty="0"/>
              <a:t> </a:t>
            </a:r>
            <a:r>
              <a:rPr dirty="0"/>
              <a:t>April</a:t>
            </a:r>
            <a:r>
              <a:rPr spc="-40" dirty="0"/>
              <a:t> </a:t>
            </a:r>
            <a:r>
              <a:rPr spc="-20" dirty="0"/>
              <a:t>2025</a:t>
            </a:r>
          </a:p>
        </p:txBody>
      </p:sp>
      <p:sp>
        <p:nvSpPr>
          <p:cNvPr id="5" name="object 5"/>
          <p:cNvSpPr txBox="1">
            <a:spLocks noGrp="1"/>
          </p:cNvSpPr>
          <p:nvPr>
            <p:ph type="dt" sz="half" idx="6"/>
          </p:nvPr>
        </p:nvSpPr>
        <p:spPr>
          <a:prstGeom prst="rect">
            <a:avLst/>
          </a:prstGeom>
        </p:spPr>
        <p:txBody>
          <a:bodyPr vert="horz" wrap="square" lIns="0" tIns="5080" rIns="0" bIns="0" rtlCol="0">
            <a:spAutoFit/>
          </a:bodyPr>
          <a:lstStyle/>
          <a:p>
            <a:pPr marL="12700">
              <a:lnSpc>
                <a:spcPct val="100000"/>
              </a:lnSpc>
              <a:spcBef>
                <a:spcPts val="40"/>
              </a:spcBef>
            </a:pPr>
            <a:r>
              <a:rPr dirty="0"/>
              <a:t>School</a:t>
            </a:r>
            <a:r>
              <a:rPr spc="-35" dirty="0"/>
              <a:t> </a:t>
            </a:r>
            <a:r>
              <a:rPr dirty="0"/>
              <a:t>of</a:t>
            </a:r>
            <a:r>
              <a:rPr spc="15" dirty="0"/>
              <a:t> </a:t>
            </a:r>
            <a:r>
              <a:rPr dirty="0"/>
              <a:t>Computing</a:t>
            </a:r>
            <a:r>
              <a:rPr spc="-35" dirty="0"/>
              <a:t> </a:t>
            </a:r>
            <a:r>
              <a:rPr dirty="0"/>
              <a:t>-</a:t>
            </a:r>
            <a:r>
              <a:rPr spc="-15" dirty="0"/>
              <a:t> </a:t>
            </a:r>
            <a:r>
              <a:rPr spc="-25" dirty="0"/>
              <a:t>CSE</a:t>
            </a:r>
          </a:p>
        </p:txBody>
      </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fld id="{81D60167-4931-47E6-BA6A-407CBD079E47}" type="slidenum">
              <a:rPr spc="-25" dirty="0"/>
              <a:t>3</a:t>
            </a:fld>
            <a:endParaRPr spc="-25" dirty="0"/>
          </a:p>
        </p:txBody>
      </p:sp>
      <p:sp>
        <p:nvSpPr>
          <p:cNvPr id="13" name="Rectangle 5"/>
          <p:cNvSpPr>
            <a:spLocks noChangeArrowheads="1"/>
          </p:cNvSpPr>
          <p:nvPr/>
        </p:nvSpPr>
        <p:spPr bwMode="auto">
          <a:xfrm>
            <a:off x="536575" y="1295400"/>
            <a:ext cx="8074025" cy="4144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Bef>
                <a:spcPts val="130"/>
              </a:spcBef>
              <a:spcAft>
                <a:spcPts val="130"/>
              </a:spcAft>
            </a:pPr>
            <a:r>
              <a:rPr lang="en-US" sz="2000" dirty="0"/>
              <a:t>Cyber attacks such as ransomware, phishing, and network intrusions are increasing rapidly and pose a serious threat to modern digital systems. Traditional security systems mainly detect attacks after they occur, which can lead to data loss and system damage.</a:t>
            </a:r>
          </a:p>
          <a:p>
            <a:pPr algn="just">
              <a:lnSpc>
                <a:spcPct val="150000"/>
              </a:lnSpc>
              <a:spcBef>
                <a:spcPts val="130"/>
              </a:spcBef>
              <a:spcAft>
                <a:spcPts val="130"/>
              </a:spcAft>
            </a:pPr>
            <a:r>
              <a:rPr lang="en-US" sz="2000" dirty="0"/>
              <a:t>This project introduces an AI-driven cybersecurity system that can analyze network traffic and identify abnormal patterns. The main goal is to move from reactive security to proactive security by predicting and preventing cyber attacks before they cause damage.</a:t>
            </a:r>
          </a:p>
          <a:p>
            <a:pPr marL="0" marR="0" lvl="0" indent="0" algn="just" defTabSz="914400" rtl="0" eaLnBrk="0" fontAlgn="base" latinLnBrk="0" hangingPunct="0">
              <a:spcBef>
                <a:spcPts val="140"/>
              </a:spcBef>
              <a:spcAft>
                <a:spcPts val="14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457200"/>
            <a:ext cx="7576820" cy="632460"/>
          </a:xfrm>
          <a:prstGeom prst="rect">
            <a:avLst/>
          </a:prstGeom>
        </p:spPr>
        <p:txBody>
          <a:bodyPr vert="horz" wrap="square" lIns="0" tIns="16510" rIns="0" bIns="0" rtlCol="0">
            <a:spAutoFit/>
          </a:bodyPr>
          <a:lstStyle/>
          <a:p>
            <a:pPr marL="2394585">
              <a:lnSpc>
                <a:spcPct val="100000"/>
              </a:lnSpc>
              <a:spcBef>
                <a:spcPts val="130"/>
              </a:spcBef>
            </a:pPr>
            <a:r>
              <a:rPr lang="en-IN" dirty="0"/>
              <a:t>Problem Statement</a:t>
            </a:r>
            <a:endParaRPr spc="-10" dirty="0"/>
          </a:p>
        </p:txBody>
      </p:sp>
      <p:sp>
        <p:nvSpPr>
          <p:cNvPr id="4" name="object 4"/>
          <p:cNvSpPr txBox="1">
            <a:spLocks noGrp="1"/>
          </p:cNvSpPr>
          <p:nvPr>
            <p:ph type="ftr" sz="quarter" idx="5"/>
          </p:nvPr>
        </p:nvSpPr>
        <p:spPr>
          <a:prstGeom prst="rect">
            <a:avLst/>
          </a:prstGeom>
        </p:spPr>
        <p:txBody>
          <a:bodyPr vert="horz" wrap="square" lIns="0" tIns="5080" rIns="0" bIns="0" rtlCol="0">
            <a:spAutoFit/>
          </a:bodyPr>
          <a:lstStyle/>
          <a:p>
            <a:pPr marL="12700">
              <a:lnSpc>
                <a:spcPct val="100000"/>
              </a:lnSpc>
              <a:spcBef>
                <a:spcPts val="40"/>
              </a:spcBef>
            </a:pPr>
            <a:r>
              <a:rPr dirty="0"/>
              <a:t>21</a:t>
            </a:r>
            <a:r>
              <a:rPr spc="-5" dirty="0"/>
              <a:t> </a:t>
            </a:r>
            <a:r>
              <a:rPr dirty="0"/>
              <a:t>April</a:t>
            </a:r>
            <a:r>
              <a:rPr spc="-40" dirty="0"/>
              <a:t> </a:t>
            </a:r>
            <a:r>
              <a:rPr spc="-20" dirty="0"/>
              <a:t>2025</a:t>
            </a:r>
          </a:p>
        </p:txBody>
      </p:sp>
      <p:sp>
        <p:nvSpPr>
          <p:cNvPr id="5" name="object 5"/>
          <p:cNvSpPr txBox="1">
            <a:spLocks noGrp="1"/>
          </p:cNvSpPr>
          <p:nvPr>
            <p:ph type="dt" sz="half" idx="6"/>
          </p:nvPr>
        </p:nvSpPr>
        <p:spPr>
          <a:prstGeom prst="rect">
            <a:avLst/>
          </a:prstGeom>
        </p:spPr>
        <p:txBody>
          <a:bodyPr vert="horz" wrap="square" lIns="0" tIns="5080" rIns="0" bIns="0" rtlCol="0">
            <a:spAutoFit/>
          </a:bodyPr>
          <a:lstStyle/>
          <a:p>
            <a:pPr marL="12700">
              <a:lnSpc>
                <a:spcPct val="100000"/>
              </a:lnSpc>
              <a:spcBef>
                <a:spcPts val="40"/>
              </a:spcBef>
            </a:pPr>
            <a:r>
              <a:rPr dirty="0"/>
              <a:t>School</a:t>
            </a:r>
            <a:r>
              <a:rPr spc="-35" dirty="0"/>
              <a:t> </a:t>
            </a:r>
            <a:r>
              <a:rPr dirty="0"/>
              <a:t>of</a:t>
            </a:r>
            <a:r>
              <a:rPr spc="15" dirty="0"/>
              <a:t> </a:t>
            </a:r>
            <a:r>
              <a:rPr dirty="0"/>
              <a:t>Computing</a:t>
            </a:r>
            <a:r>
              <a:rPr spc="-35" dirty="0"/>
              <a:t> </a:t>
            </a:r>
            <a:r>
              <a:rPr dirty="0"/>
              <a:t>-</a:t>
            </a:r>
            <a:r>
              <a:rPr spc="-15" dirty="0"/>
              <a:t> </a:t>
            </a:r>
            <a:r>
              <a:rPr spc="-25" dirty="0"/>
              <a:t>CSE</a:t>
            </a:r>
          </a:p>
        </p:txBody>
      </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fld id="{81D60167-4931-47E6-BA6A-407CBD079E47}" type="slidenum">
              <a:rPr spc="-25" dirty="0"/>
              <a:t>4</a:t>
            </a:fld>
            <a:endParaRPr spc="-25" dirty="0"/>
          </a:p>
        </p:txBody>
      </p:sp>
      <p:sp>
        <p:nvSpPr>
          <p:cNvPr id="9" name="Rectangle 2"/>
          <p:cNvSpPr>
            <a:spLocks noChangeArrowheads="1"/>
          </p:cNvSpPr>
          <p:nvPr/>
        </p:nvSpPr>
        <p:spPr bwMode="auto">
          <a:xfrm>
            <a:off x="534987" y="1295400"/>
            <a:ext cx="8074025" cy="47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Bef>
                <a:spcPts val="130"/>
              </a:spcBef>
              <a:spcAft>
                <a:spcPts val="130"/>
              </a:spcAft>
            </a:pPr>
            <a:r>
              <a:rPr lang="en-US" sz="2000" dirty="0"/>
              <a:t>Traditional cybersecurity systems rely on signature-based detection, which means they can only detect attacks that are already known. This creates a major security gap because new and unknown attacks cannot be detected. Manual monitoring of network logs is difficult, time-consuming, and prone to human error. </a:t>
            </a:r>
          </a:p>
          <a:p>
            <a:pPr algn="just">
              <a:lnSpc>
                <a:spcPct val="150000"/>
              </a:lnSpc>
              <a:spcBef>
                <a:spcPts val="130"/>
              </a:spcBef>
              <a:spcAft>
                <a:spcPts val="130"/>
              </a:spcAft>
            </a:pPr>
            <a:r>
              <a:rPr lang="en-US" sz="2000" dirty="0"/>
              <a:t>Key problems include:</a:t>
            </a:r>
          </a:p>
          <a:p>
            <a:pPr algn="l">
              <a:lnSpc>
                <a:spcPct val="150000"/>
              </a:lnSpc>
              <a:spcBef>
                <a:spcPts val="130"/>
              </a:spcBef>
              <a:spcAft>
                <a:spcPts val="130"/>
              </a:spcAft>
            </a:pPr>
            <a:r>
              <a:rPr lang="en-US" sz="2000" dirty="0"/>
              <a:t>• Cannot detect unknown or zero-day attacks</a:t>
            </a:r>
            <a:br>
              <a:rPr lang="en-US" sz="2000" dirty="0"/>
            </a:br>
            <a:r>
              <a:rPr lang="en-US" sz="2000" dirty="0"/>
              <a:t>• Depends on predefined rules and signatures</a:t>
            </a:r>
            <a:br>
              <a:rPr lang="en-US" sz="2000" dirty="0"/>
            </a:br>
            <a:r>
              <a:rPr lang="en-US" sz="2000" dirty="0"/>
              <a:t>• Manual monitoring is slow and inefficient</a:t>
            </a:r>
            <a:br>
              <a:rPr lang="en-US" sz="2000" dirty="0"/>
            </a:br>
            <a:r>
              <a:rPr lang="en-US" sz="2000" dirty="0"/>
              <a:t>• Delay in detecting and stopping attacks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0" y="457200"/>
            <a:ext cx="3561715" cy="624530"/>
          </a:xfrm>
          <a:prstGeom prst="rect">
            <a:avLst/>
          </a:prstGeom>
        </p:spPr>
        <p:txBody>
          <a:bodyPr vert="horz" wrap="square" lIns="0" tIns="16510" rIns="0" bIns="0" rtlCol="0">
            <a:spAutoFit/>
          </a:bodyPr>
          <a:lstStyle/>
          <a:p>
            <a:pPr marL="12700">
              <a:lnSpc>
                <a:spcPct val="100000"/>
              </a:lnSpc>
              <a:spcBef>
                <a:spcPts val="130"/>
              </a:spcBef>
            </a:pPr>
            <a:r>
              <a:rPr lang="en-IN" dirty="0"/>
              <a:t>Existing Solution</a:t>
            </a:r>
            <a:endParaRPr spc="-40" dirty="0"/>
          </a:p>
        </p:txBody>
      </p:sp>
      <p:sp>
        <p:nvSpPr>
          <p:cNvPr id="4" name="object 4"/>
          <p:cNvSpPr txBox="1">
            <a:spLocks noGrp="1"/>
          </p:cNvSpPr>
          <p:nvPr>
            <p:ph type="ftr" sz="quarter" idx="5"/>
          </p:nvPr>
        </p:nvSpPr>
        <p:spPr>
          <a:prstGeom prst="rect">
            <a:avLst/>
          </a:prstGeom>
        </p:spPr>
        <p:txBody>
          <a:bodyPr vert="horz" wrap="square" lIns="0" tIns="5080" rIns="0" bIns="0" rtlCol="0">
            <a:spAutoFit/>
          </a:bodyPr>
          <a:lstStyle/>
          <a:p>
            <a:pPr marL="12700">
              <a:lnSpc>
                <a:spcPct val="100000"/>
              </a:lnSpc>
              <a:spcBef>
                <a:spcPts val="40"/>
              </a:spcBef>
            </a:pPr>
            <a:r>
              <a:rPr dirty="0"/>
              <a:t>21</a:t>
            </a:r>
            <a:r>
              <a:rPr spc="-5" dirty="0"/>
              <a:t> </a:t>
            </a:r>
            <a:r>
              <a:rPr dirty="0"/>
              <a:t>April</a:t>
            </a:r>
            <a:r>
              <a:rPr spc="-40" dirty="0"/>
              <a:t> </a:t>
            </a:r>
            <a:r>
              <a:rPr spc="-20" dirty="0"/>
              <a:t>2025</a:t>
            </a:r>
          </a:p>
        </p:txBody>
      </p:sp>
      <p:sp>
        <p:nvSpPr>
          <p:cNvPr id="5" name="object 5"/>
          <p:cNvSpPr txBox="1">
            <a:spLocks noGrp="1"/>
          </p:cNvSpPr>
          <p:nvPr>
            <p:ph type="dt" sz="half" idx="6"/>
          </p:nvPr>
        </p:nvSpPr>
        <p:spPr>
          <a:prstGeom prst="rect">
            <a:avLst/>
          </a:prstGeom>
        </p:spPr>
        <p:txBody>
          <a:bodyPr vert="horz" wrap="square" lIns="0" tIns="5080" rIns="0" bIns="0" rtlCol="0">
            <a:spAutoFit/>
          </a:bodyPr>
          <a:lstStyle/>
          <a:p>
            <a:pPr marL="12700">
              <a:lnSpc>
                <a:spcPct val="100000"/>
              </a:lnSpc>
              <a:spcBef>
                <a:spcPts val="40"/>
              </a:spcBef>
            </a:pPr>
            <a:r>
              <a:rPr dirty="0"/>
              <a:t>School</a:t>
            </a:r>
            <a:r>
              <a:rPr spc="-35" dirty="0"/>
              <a:t> </a:t>
            </a:r>
            <a:r>
              <a:rPr dirty="0"/>
              <a:t>of</a:t>
            </a:r>
            <a:r>
              <a:rPr spc="15" dirty="0"/>
              <a:t> </a:t>
            </a:r>
            <a:r>
              <a:rPr dirty="0"/>
              <a:t>Computing</a:t>
            </a:r>
            <a:r>
              <a:rPr spc="-35" dirty="0"/>
              <a:t> </a:t>
            </a:r>
            <a:r>
              <a:rPr dirty="0"/>
              <a:t>-</a:t>
            </a:r>
            <a:r>
              <a:rPr spc="-15" dirty="0"/>
              <a:t> </a:t>
            </a:r>
            <a:r>
              <a:rPr spc="-25" dirty="0"/>
              <a:t>CSE</a:t>
            </a:r>
          </a:p>
        </p:txBody>
      </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fld id="{81D60167-4931-47E6-BA6A-407CBD079E47}" type="slidenum">
              <a:rPr spc="-25" dirty="0"/>
              <a:t>5</a:t>
            </a:fld>
            <a:endParaRPr spc="-25" dirty="0"/>
          </a:p>
        </p:txBody>
      </p:sp>
      <p:sp>
        <p:nvSpPr>
          <p:cNvPr id="9" name="TextBox 8"/>
          <p:cNvSpPr txBox="1"/>
          <p:nvPr/>
        </p:nvSpPr>
        <p:spPr>
          <a:xfrm flipV="1">
            <a:off x="980784" y="4756420"/>
            <a:ext cx="7519680" cy="45719"/>
          </a:xfrm>
          <a:prstGeom prst="rect">
            <a:avLst/>
          </a:prstGeom>
          <a:noFill/>
        </p:spPr>
        <p:txBody>
          <a:bodyPr wrap="square" rtlCol="0">
            <a:spAutoFit/>
          </a:bodyPr>
          <a:lstStyle/>
          <a:p>
            <a:endParaRPr lang="en-IN" dirty="0"/>
          </a:p>
        </p:txBody>
      </p:sp>
      <p:sp>
        <p:nvSpPr>
          <p:cNvPr id="10" name="Rectangle 3"/>
          <p:cNvSpPr>
            <a:spLocks noChangeArrowheads="1"/>
          </p:cNvSpPr>
          <p:nvPr/>
        </p:nvSpPr>
        <p:spPr bwMode="auto">
          <a:xfrm>
            <a:off x="572770" y="1295400"/>
            <a:ext cx="8114030" cy="6139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Bef>
                <a:spcPts val="130"/>
              </a:spcBef>
              <a:spcAft>
                <a:spcPts val="130"/>
              </a:spcAft>
            </a:pPr>
            <a:r>
              <a:rPr lang="en-US" sz="2000" dirty="0"/>
              <a:t>Existing systems use firewalls, antivirus software, and intrusion detection systems to protect networks. These systems compare network traffic with known threat signatures and block malicious activities if a match is found. </a:t>
            </a:r>
          </a:p>
          <a:p>
            <a:pPr algn="just">
              <a:lnSpc>
                <a:spcPct val="150000"/>
              </a:lnSpc>
              <a:spcBef>
                <a:spcPts val="130"/>
              </a:spcBef>
              <a:spcAft>
                <a:spcPts val="130"/>
              </a:spcAft>
            </a:pPr>
            <a:r>
              <a:rPr lang="en-US" sz="2000" dirty="0"/>
              <a:t>Security analysts also define rules and indicators of compromise, such as suspicious IP addresses or abnormal traffic patterns, to detect threats. </a:t>
            </a:r>
          </a:p>
          <a:p>
            <a:pPr algn="just">
              <a:lnSpc>
                <a:spcPct val="150000"/>
              </a:lnSpc>
              <a:spcBef>
                <a:spcPts val="130"/>
              </a:spcBef>
              <a:spcAft>
                <a:spcPts val="130"/>
              </a:spcAft>
            </a:pPr>
            <a:r>
              <a:rPr lang="en-US" sz="2000" dirty="0"/>
              <a:t>Limitations:</a:t>
            </a:r>
          </a:p>
          <a:p>
            <a:pPr algn="l">
              <a:lnSpc>
                <a:spcPct val="150000"/>
              </a:lnSpc>
              <a:spcBef>
                <a:spcPts val="130"/>
              </a:spcBef>
              <a:spcAft>
                <a:spcPts val="130"/>
              </a:spcAft>
            </a:pPr>
            <a:r>
              <a:rPr lang="en-US" sz="2000" dirty="0"/>
              <a:t>• Cannot predict future attacks</a:t>
            </a:r>
            <a:br>
              <a:rPr lang="en-US" sz="2000" dirty="0"/>
            </a:br>
            <a:r>
              <a:rPr lang="en-US" sz="2000" dirty="0"/>
              <a:t>• Cannot detect unknown threats</a:t>
            </a:r>
            <a:br>
              <a:rPr lang="en-US" sz="2000" dirty="0"/>
            </a:br>
            <a:r>
              <a:rPr lang="en-US" sz="2000" dirty="0"/>
              <a:t>• Requires manual rule configuration</a:t>
            </a:r>
          </a:p>
          <a:p>
            <a:pPr algn="just">
              <a:lnSpc>
                <a:spcPct val="150000"/>
              </a:lnSpc>
              <a:spcBef>
                <a:spcPts val="130"/>
              </a:spcBef>
              <a:spcAft>
                <a:spcPts val="130"/>
              </a:spcAft>
            </a:pPr>
            <a:br>
              <a:rPr lang="en-US" sz="2000" dirty="0"/>
            </a:b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3569" y="454660"/>
            <a:ext cx="7576820" cy="624530"/>
          </a:xfrm>
          <a:prstGeom prst="rect">
            <a:avLst/>
          </a:prstGeom>
        </p:spPr>
        <p:txBody>
          <a:bodyPr vert="horz" wrap="square" lIns="0" tIns="16510" rIns="0" bIns="0" rtlCol="0">
            <a:spAutoFit/>
          </a:bodyPr>
          <a:lstStyle/>
          <a:p>
            <a:pPr marL="1457325">
              <a:lnSpc>
                <a:spcPct val="100000"/>
              </a:lnSpc>
              <a:spcBef>
                <a:spcPts val="130"/>
              </a:spcBef>
            </a:pPr>
            <a:r>
              <a:rPr lang="en-IN" dirty="0"/>
              <a:t>Existing Architecture</a:t>
            </a:r>
            <a:endParaRPr spc="-10" dirty="0"/>
          </a:p>
        </p:txBody>
      </p:sp>
      <p:sp>
        <p:nvSpPr>
          <p:cNvPr id="4" name="object 4"/>
          <p:cNvSpPr txBox="1">
            <a:spLocks noGrp="1"/>
          </p:cNvSpPr>
          <p:nvPr>
            <p:ph type="ftr" sz="quarter" idx="5"/>
          </p:nvPr>
        </p:nvSpPr>
        <p:spPr>
          <a:prstGeom prst="rect">
            <a:avLst/>
          </a:prstGeom>
        </p:spPr>
        <p:txBody>
          <a:bodyPr vert="horz" wrap="square" lIns="0" tIns="5080" rIns="0" bIns="0" rtlCol="0">
            <a:spAutoFit/>
          </a:bodyPr>
          <a:lstStyle/>
          <a:p>
            <a:pPr marL="12700">
              <a:lnSpc>
                <a:spcPct val="100000"/>
              </a:lnSpc>
              <a:spcBef>
                <a:spcPts val="40"/>
              </a:spcBef>
            </a:pPr>
            <a:r>
              <a:rPr dirty="0"/>
              <a:t>21</a:t>
            </a:r>
            <a:r>
              <a:rPr spc="-5" dirty="0"/>
              <a:t> </a:t>
            </a:r>
            <a:r>
              <a:rPr dirty="0"/>
              <a:t>April</a:t>
            </a:r>
            <a:r>
              <a:rPr spc="-40" dirty="0"/>
              <a:t> </a:t>
            </a:r>
            <a:r>
              <a:rPr spc="-20" dirty="0"/>
              <a:t>2025</a:t>
            </a:r>
          </a:p>
        </p:txBody>
      </p:sp>
      <p:sp>
        <p:nvSpPr>
          <p:cNvPr id="5" name="object 5"/>
          <p:cNvSpPr txBox="1">
            <a:spLocks noGrp="1"/>
          </p:cNvSpPr>
          <p:nvPr>
            <p:ph type="dt" sz="half" idx="6"/>
          </p:nvPr>
        </p:nvSpPr>
        <p:spPr>
          <a:prstGeom prst="rect">
            <a:avLst/>
          </a:prstGeom>
        </p:spPr>
        <p:txBody>
          <a:bodyPr vert="horz" wrap="square" lIns="0" tIns="5080" rIns="0" bIns="0" rtlCol="0">
            <a:spAutoFit/>
          </a:bodyPr>
          <a:lstStyle/>
          <a:p>
            <a:pPr marL="12700">
              <a:lnSpc>
                <a:spcPct val="100000"/>
              </a:lnSpc>
              <a:spcBef>
                <a:spcPts val="40"/>
              </a:spcBef>
            </a:pPr>
            <a:r>
              <a:rPr dirty="0"/>
              <a:t>School</a:t>
            </a:r>
            <a:r>
              <a:rPr spc="-35" dirty="0"/>
              <a:t> </a:t>
            </a:r>
            <a:r>
              <a:rPr dirty="0"/>
              <a:t>of</a:t>
            </a:r>
            <a:r>
              <a:rPr spc="15" dirty="0"/>
              <a:t> </a:t>
            </a:r>
            <a:r>
              <a:rPr dirty="0"/>
              <a:t>Computing</a:t>
            </a:r>
            <a:r>
              <a:rPr spc="-35" dirty="0"/>
              <a:t> </a:t>
            </a:r>
            <a:r>
              <a:rPr dirty="0"/>
              <a:t>-</a:t>
            </a:r>
            <a:r>
              <a:rPr spc="-15" dirty="0"/>
              <a:t> </a:t>
            </a:r>
            <a:r>
              <a:rPr spc="-25" dirty="0"/>
              <a:t>CSE</a:t>
            </a:r>
          </a:p>
        </p:txBody>
      </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fld id="{81D60167-4931-47E6-BA6A-407CBD079E47}" type="slidenum">
              <a:rPr spc="-25" dirty="0"/>
              <a:t>6</a:t>
            </a:fld>
            <a:endParaRPr spc="-25" dirty="0"/>
          </a:p>
        </p:txBody>
      </p:sp>
      <p:pic>
        <p:nvPicPr>
          <p:cNvPr id="12" name="Picture 11">
            <a:extLst>
              <a:ext uri="{FF2B5EF4-FFF2-40B4-BE49-F238E27FC236}">
                <a16:creationId xmlns:a16="http://schemas.microsoft.com/office/drawing/2014/main" id="{ACB9E63E-48A4-EFFD-6938-27C098AF79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2051326"/>
            <a:ext cx="8610600" cy="313027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4600" y="422877"/>
            <a:ext cx="4637405" cy="693780"/>
          </a:xfrm>
          <a:prstGeom prst="rect">
            <a:avLst/>
          </a:prstGeom>
        </p:spPr>
        <p:txBody>
          <a:bodyPr vert="horz" wrap="square" lIns="0" tIns="16510" rIns="0" bIns="0" rtlCol="0">
            <a:spAutoFit/>
          </a:bodyPr>
          <a:lstStyle/>
          <a:p>
            <a:pPr marL="12700">
              <a:lnSpc>
                <a:spcPct val="100000"/>
              </a:lnSpc>
              <a:spcBef>
                <a:spcPts val="130"/>
              </a:spcBef>
            </a:pPr>
            <a:r>
              <a:rPr lang="en-IN" sz="4400" dirty="0"/>
              <a:t>Proposed Solution</a:t>
            </a:r>
            <a:endParaRPr sz="4400" dirty="0"/>
          </a:p>
        </p:txBody>
      </p:sp>
      <p:sp>
        <p:nvSpPr>
          <p:cNvPr id="4" name="object 4"/>
          <p:cNvSpPr txBox="1">
            <a:spLocks noGrp="1"/>
          </p:cNvSpPr>
          <p:nvPr>
            <p:ph type="ftr" sz="quarter" idx="5"/>
          </p:nvPr>
        </p:nvSpPr>
        <p:spPr>
          <a:prstGeom prst="rect">
            <a:avLst/>
          </a:prstGeom>
        </p:spPr>
        <p:txBody>
          <a:bodyPr vert="horz" wrap="square" lIns="0" tIns="5080" rIns="0" bIns="0" rtlCol="0">
            <a:spAutoFit/>
          </a:bodyPr>
          <a:lstStyle/>
          <a:p>
            <a:pPr marL="12700">
              <a:lnSpc>
                <a:spcPct val="100000"/>
              </a:lnSpc>
              <a:spcBef>
                <a:spcPts val="40"/>
              </a:spcBef>
            </a:pPr>
            <a:r>
              <a:rPr dirty="0"/>
              <a:t>21</a:t>
            </a:r>
            <a:r>
              <a:rPr spc="-5" dirty="0"/>
              <a:t> </a:t>
            </a:r>
            <a:r>
              <a:rPr dirty="0"/>
              <a:t>April</a:t>
            </a:r>
            <a:r>
              <a:rPr spc="-40" dirty="0"/>
              <a:t> </a:t>
            </a:r>
            <a:r>
              <a:rPr spc="-20" dirty="0"/>
              <a:t>2025</a:t>
            </a:r>
          </a:p>
        </p:txBody>
      </p:sp>
      <p:sp>
        <p:nvSpPr>
          <p:cNvPr id="5" name="object 5"/>
          <p:cNvSpPr txBox="1">
            <a:spLocks noGrp="1"/>
          </p:cNvSpPr>
          <p:nvPr>
            <p:ph type="dt" sz="half" idx="6"/>
          </p:nvPr>
        </p:nvSpPr>
        <p:spPr>
          <a:prstGeom prst="rect">
            <a:avLst/>
          </a:prstGeom>
        </p:spPr>
        <p:txBody>
          <a:bodyPr vert="horz" wrap="square" lIns="0" tIns="5080" rIns="0" bIns="0" rtlCol="0">
            <a:spAutoFit/>
          </a:bodyPr>
          <a:lstStyle/>
          <a:p>
            <a:pPr marL="12700">
              <a:lnSpc>
                <a:spcPct val="100000"/>
              </a:lnSpc>
              <a:spcBef>
                <a:spcPts val="40"/>
              </a:spcBef>
            </a:pPr>
            <a:r>
              <a:rPr dirty="0"/>
              <a:t>School</a:t>
            </a:r>
            <a:r>
              <a:rPr spc="-35" dirty="0"/>
              <a:t> </a:t>
            </a:r>
            <a:r>
              <a:rPr dirty="0"/>
              <a:t>of</a:t>
            </a:r>
            <a:r>
              <a:rPr spc="15" dirty="0"/>
              <a:t> </a:t>
            </a:r>
            <a:r>
              <a:rPr dirty="0"/>
              <a:t>Computing</a:t>
            </a:r>
            <a:r>
              <a:rPr spc="-35" dirty="0"/>
              <a:t> </a:t>
            </a:r>
            <a:r>
              <a:rPr dirty="0"/>
              <a:t>-</a:t>
            </a:r>
            <a:r>
              <a:rPr spc="-15" dirty="0"/>
              <a:t> </a:t>
            </a:r>
            <a:r>
              <a:rPr spc="-25" dirty="0"/>
              <a:t>CSE</a:t>
            </a:r>
          </a:p>
        </p:txBody>
      </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fld id="{81D60167-4931-47E6-BA6A-407CBD079E47}" type="slidenum">
              <a:rPr spc="-25" dirty="0"/>
              <a:t>7</a:t>
            </a:fld>
            <a:endParaRPr spc="-25" dirty="0"/>
          </a:p>
        </p:txBody>
      </p:sp>
      <p:sp>
        <p:nvSpPr>
          <p:cNvPr id="8" name="TextBox 7">
            <a:extLst>
              <a:ext uri="{FF2B5EF4-FFF2-40B4-BE49-F238E27FC236}">
                <a16:creationId xmlns:a16="http://schemas.microsoft.com/office/drawing/2014/main" id="{D35BAB25-ADC1-E517-7FAD-65D534F2D5A1}"/>
              </a:ext>
            </a:extLst>
          </p:cNvPr>
          <p:cNvSpPr txBox="1"/>
          <p:nvPr/>
        </p:nvSpPr>
        <p:spPr>
          <a:xfrm>
            <a:off x="609601" y="1296203"/>
            <a:ext cx="8041004" cy="5103961"/>
          </a:xfrm>
          <a:prstGeom prst="rect">
            <a:avLst/>
          </a:prstGeom>
          <a:noFill/>
        </p:spPr>
        <p:txBody>
          <a:bodyPr wrap="square">
            <a:spAutoFit/>
          </a:bodyPr>
          <a:lstStyle/>
          <a:p>
            <a:pPr algn="just">
              <a:lnSpc>
                <a:spcPct val="150000"/>
              </a:lnSpc>
              <a:spcBef>
                <a:spcPts val="130"/>
              </a:spcBef>
              <a:spcAft>
                <a:spcPts val="130"/>
              </a:spcAft>
              <a:buNone/>
            </a:pPr>
            <a:r>
              <a:rPr lang="en-US" dirty="0"/>
              <a:t>The proposed system uses Artificial Intelligence to analyze network traffic and learn normal network behavior. Instead of relying on predefined rules, the system automatically detects abnormal patterns.</a:t>
            </a:r>
          </a:p>
          <a:p>
            <a:pPr algn="just">
              <a:lnSpc>
                <a:spcPct val="150000"/>
              </a:lnSpc>
              <a:spcBef>
                <a:spcPts val="130"/>
              </a:spcBef>
              <a:spcAft>
                <a:spcPts val="130"/>
              </a:spcAft>
              <a:buNone/>
            </a:pPr>
            <a:r>
              <a:rPr lang="en-US" dirty="0"/>
              <a:t>The AI model analyzes traffic continuously and predicts potential cyber attacks before they occur. The system can also automatically block malicious activity and protect the network.</a:t>
            </a:r>
          </a:p>
          <a:p>
            <a:pPr algn="just">
              <a:lnSpc>
                <a:spcPct val="150000"/>
              </a:lnSpc>
              <a:spcBef>
                <a:spcPts val="130"/>
              </a:spcBef>
              <a:spcAft>
                <a:spcPts val="130"/>
              </a:spcAft>
              <a:buNone/>
            </a:pPr>
            <a:r>
              <a:rPr lang="en-US" dirty="0"/>
              <a:t>Key advantages:</a:t>
            </a:r>
          </a:p>
          <a:p>
            <a:pPr>
              <a:lnSpc>
                <a:spcPct val="150000"/>
              </a:lnSpc>
              <a:spcBef>
                <a:spcPts val="130"/>
              </a:spcBef>
              <a:spcAft>
                <a:spcPts val="130"/>
              </a:spcAft>
              <a:buNone/>
            </a:pPr>
            <a:r>
              <a:rPr lang="en-US" dirty="0"/>
              <a:t>• Predicts attacks before they happen</a:t>
            </a:r>
            <a:br>
              <a:rPr lang="en-US" dirty="0"/>
            </a:br>
            <a:r>
              <a:rPr lang="en-US" dirty="0"/>
              <a:t>• Detects unknown threats</a:t>
            </a:r>
            <a:br>
              <a:rPr lang="en-US" dirty="0"/>
            </a:br>
            <a:r>
              <a:rPr lang="en-US" dirty="0"/>
              <a:t>• Reduces manual work</a:t>
            </a:r>
            <a:br>
              <a:rPr lang="en-US" dirty="0"/>
            </a:br>
            <a:r>
              <a:rPr lang="en-US" dirty="0"/>
              <a:t>• Improves security accuracy</a:t>
            </a:r>
            <a:br>
              <a:rPr lang="en-US" dirty="0"/>
            </a:br>
            <a:r>
              <a:rPr lang="en-US" dirty="0"/>
              <a:t>• Provides real-time protection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2125980">
              <a:lnSpc>
                <a:spcPct val="100000"/>
              </a:lnSpc>
              <a:spcBef>
                <a:spcPts val="130"/>
              </a:spcBef>
            </a:pPr>
            <a:r>
              <a:rPr lang="en-IN" dirty="0"/>
              <a:t>Proposed Architecture</a:t>
            </a:r>
            <a:endParaRPr spc="-10" dirty="0"/>
          </a:p>
        </p:txBody>
      </p:sp>
      <p:sp>
        <p:nvSpPr>
          <p:cNvPr id="4" name="object 4"/>
          <p:cNvSpPr txBox="1">
            <a:spLocks noGrp="1"/>
          </p:cNvSpPr>
          <p:nvPr>
            <p:ph type="ftr" sz="quarter" idx="5"/>
          </p:nvPr>
        </p:nvSpPr>
        <p:spPr>
          <a:prstGeom prst="rect">
            <a:avLst/>
          </a:prstGeom>
        </p:spPr>
        <p:txBody>
          <a:bodyPr vert="horz" wrap="square" lIns="0" tIns="5080" rIns="0" bIns="0" rtlCol="0">
            <a:spAutoFit/>
          </a:bodyPr>
          <a:lstStyle/>
          <a:p>
            <a:pPr marL="12700">
              <a:lnSpc>
                <a:spcPct val="100000"/>
              </a:lnSpc>
              <a:spcBef>
                <a:spcPts val="40"/>
              </a:spcBef>
            </a:pPr>
            <a:r>
              <a:rPr dirty="0"/>
              <a:t>21</a:t>
            </a:r>
            <a:r>
              <a:rPr spc="-5" dirty="0"/>
              <a:t> </a:t>
            </a:r>
            <a:r>
              <a:rPr dirty="0"/>
              <a:t>April</a:t>
            </a:r>
            <a:r>
              <a:rPr spc="-40" dirty="0"/>
              <a:t> </a:t>
            </a:r>
            <a:r>
              <a:rPr spc="-20" dirty="0"/>
              <a:t>2025</a:t>
            </a:r>
          </a:p>
        </p:txBody>
      </p:sp>
      <p:sp>
        <p:nvSpPr>
          <p:cNvPr id="5" name="object 5"/>
          <p:cNvSpPr txBox="1">
            <a:spLocks noGrp="1"/>
          </p:cNvSpPr>
          <p:nvPr>
            <p:ph type="dt" sz="half" idx="6"/>
          </p:nvPr>
        </p:nvSpPr>
        <p:spPr>
          <a:prstGeom prst="rect">
            <a:avLst/>
          </a:prstGeom>
        </p:spPr>
        <p:txBody>
          <a:bodyPr vert="horz" wrap="square" lIns="0" tIns="5080" rIns="0" bIns="0" rtlCol="0">
            <a:spAutoFit/>
          </a:bodyPr>
          <a:lstStyle/>
          <a:p>
            <a:pPr marL="12700">
              <a:lnSpc>
                <a:spcPct val="100000"/>
              </a:lnSpc>
              <a:spcBef>
                <a:spcPts val="40"/>
              </a:spcBef>
            </a:pPr>
            <a:r>
              <a:rPr dirty="0"/>
              <a:t>School</a:t>
            </a:r>
            <a:r>
              <a:rPr spc="-35" dirty="0"/>
              <a:t> </a:t>
            </a:r>
            <a:r>
              <a:rPr dirty="0"/>
              <a:t>of</a:t>
            </a:r>
            <a:r>
              <a:rPr spc="15" dirty="0"/>
              <a:t> </a:t>
            </a:r>
            <a:r>
              <a:rPr dirty="0"/>
              <a:t>Computing</a:t>
            </a:r>
            <a:r>
              <a:rPr spc="-35" dirty="0"/>
              <a:t> </a:t>
            </a:r>
            <a:r>
              <a:rPr dirty="0"/>
              <a:t>-</a:t>
            </a:r>
            <a:r>
              <a:rPr spc="-15" dirty="0"/>
              <a:t> </a:t>
            </a:r>
            <a:r>
              <a:rPr spc="-25" dirty="0"/>
              <a:t>CSE</a:t>
            </a:r>
          </a:p>
        </p:txBody>
      </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fld id="{81D60167-4931-47E6-BA6A-407CBD079E47}" type="slidenum">
              <a:rPr spc="-25" dirty="0"/>
              <a:t>8</a:t>
            </a:fld>
            <a:endParaRPr spc="-25" dirty="0"/>
          </a:p>
        </p:txBody>
      </p:sp>
      <p:pic>
        <p:nvPicPr>
          <p:cNvPr id="10" name="Picture 9">
            <a:extLst>
              <a:ext uri="{FF2B5EF4-FFF2-40B4-BE49-F238E27FC236}">
                <a16:creationId xmlns:a16="http://schemas.microsoft.com/office/drawing/2014/main" id="{EF83CA30-34A1-1E2B-36DF-E997C46400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371600"/>
            <a:ext cx="7964805" cy="4572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53B87-6460-AC60-D241-81B3FFBEBC85}"/>
              </a:ext>
            </a:extLst>
          </p:cNvPr>
          <p:cNvSpPr>
            <a:spLocks noGrp="1"/>
          </p:cNvSpPr>
          <p:nvPr>
            <p:ph type="title"/>
          </p:nvPr>
        </p:nvSpPr>
        <p:spPr>
          <a:xfrm>
            <a:off x="623569" y="454660"/>
            <a:ext cx="7576820" cy="677108"/>
          </a:xfrm>
        </p:spPr>
        <p:txBody>
          <a:bodyPr/>
          <a:lstStyle/>
          <a:p>
            <a:pPr algn="ctr"/>
            <a:r>
              <a:rPr lang="en-IN" sz="4400" dirty="0"/>
              <a:t>Conclusion</a:t>
            </a:r>
          </a:p>
        </p:txBody>
      </p:sp>
      <p:sp>
        <p:nvSpPr>
          <p:cNvPr id="3" name="Text Placeholder 2">
            <a:extLst>
              <a:ext uri="{FF2B5EF4-FFF2-40B4-BE49-F238E27FC236}">
                <a16:creationId xmlns:a16="http://schemas.microsoft.com/office/drawing/2014/main" id="{97300D3D-4732-2F78-D8BB-92C6A43B6B42}"/>
              </a:ext>
            </a:extLst>
          </p:cNvPr>
          <p:cNvSpPr>
            <a:spLocks noGrp="1"/>
          </p:cNvSpPr>
          <p:nvPr>
            <p:ph type="body" idx="1"/>
          </p:nvPr>
        </p:nvSpPr>
        <p:spPr>
          <a:xfrm>
            <a:off x="525145" y="1371600"/>
            <a:ext cx="8093709" cy="4562788"/>
          </a:xfrm>
        </p:spPr>
        <p:txBody>
          <a:bodyPr/>
          <a:lstStyle/>
          <a:p>
            <a:pPr algn="just">
              <a:lnSpc>
                <a:spcPct val="150000"/>
              </a:lnSpc>
              <a:spcBef>
                <a:spcPts val="130"/>
              </a:spcBef>
              <a:spcAft>
                <a:spcPts val="130"/>
              </a:spcAft>
            </a:pPr>
            <a:r>
              <a:rPr lang="en-US" sz="2000" dirty="0"/>
              <a:t>The proposed AI-driven cybersecurity system overcomes these limitations by analyzing network traffic and learning normal behavior using deep learning models such as LSTM or RNN. The system can detect abnormal patterns, predict potential threats, and automatically prevent malicious activities.</a:t>
            </a:r>
          </a:p>
          <a:p>
            <a:pPr algn="just">
              <a:lnSpc>
                <a:spcPct val="150000"/>
              </a:lnSpc>
              <a:spcBef>
                <a:spcPts val="130"/>
              </a:spcBef>
              <a:spcAft>
                <a:spcPts val="130"/>
              </a:spcAft>
            </a:pPr>
            <a:r>
              <a:rPr lang="en-US" sz="2000" dirty="0"/>
              <a:t>By shifting from reactive detection to proactive prediction and prevention, the system improves threat detection accuracy, reduces manual effort, and enhances overall network security. This approach provides a smarter, faster, and more reliable solution for protecting modern digital systems from cyber attacks.</a:t>
            </a:r>
          </a:p>
          <a:p>
            <a:endParaRPr lang="en-IN" dirty="0"/>
          </a:p>
        </p:txBody>
      </p:sp>
    </p:spTree>
    <p:extLst>
      <p:ext uri="{BB962C8B-B14F-4D97-AF65-F5344CB8AC3E}">
        <p14:creationId xmlns:p14="http://schemas.microsoft.com/office/powerpoint/2010/main" val="3142259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6510" rIns="0" bIns="0" rtlCol="0">
            <a:spAutoFit/>
          </a:bodyPr>
          <a:lstStyle/>
          <a:p>
            <a:pPr marL="12700">
              <a:lnSpc>
                <a:spcPct val="100000"/>
              </a:lnSpc>
              <a:spcBef>
                <a:spcPts val="130"/>
              </a:spcBef>
            </a:pPr>
            <a:r>
              <a:rPr dirty="0"/>
              <a:t>THANK</a:t>
            </a:r>
            <a:r>
              <a:rPr spc="100" dirty="0"/>
              <a:t> </a:t>
            </a:r>
            <a:r>
              <a:rPr spc="-25" dirty="0"/>
              <a:t>YOU</a:t>
            </a:r>
          </a:p>
        </p:txBody>
      </p:sp>
      <p:sp>
        <p:nvSpPr>
          <p:cNvPr id="4" name="object 4"/>
          <p:cNvSpPr txBox="1">
            <a:spLocks noGrp="1"/>
          </p:cNvSpPr>
          <p:nvPr>
            <p:ph type="ftr" sz="quarter" idx="5"/>
          </p:nvPr>
        </p:nvSpPr>
        <p:spPr>
          <a:prstGeom prst="rect">
            <a:avLst/>
          </a:prstGeom>
        </p:spPr>
        <p:txBody>
          <a:bodyPr vert="horz" wrap="square" lIns="0" tIns="5080" rIns="0" bIns="0" rtlCol="0">
            <a:spAutoFit/>
          </a:bodyPr>
          <a:lstStyle/>
          <a:p>
            <a:pPr marL="12700">
              <a:lnSpc>
                <a:spcPct val="100000"/>
              </a:lnSpc>
              <a:spcBef>
                <a:spcPts val="40"/>
              </a:spcBef>
            </a:pPr>
            <a:r>
              <a:rPr dirty="0"/>
              <a:t>21</a:t>
            </a:r>
            <a:r>
              <a:rPr spc="-5" dirty="0"/>
              <a:t> </a:t>
            </a:r>
            <a:r>
              <a:rPr dirty="0"/>
              <a:t>April</a:t>
            </a:r>
            <a:r>
              <a:rPr spc="-40" dirty="0"/>
              <a:t> </a:t>
            </a:r>
            <a:r>
              <a:rPr spc="-20" dirty="0"/>
              <a:t>2025</a:t>
            </a:r>
          </a:p>
        </p:txBody>
      </p:sp>
      <p:sp>
        <p:nvSpPr>
          <p:cNvPr id="5" name="object 5"/>
          <p:cNvSpPr txBox="1">
            <a:spLocks noGrp="1"/>
          </p:cNvSpPr>
          <p:nvPr>
            <p:ph type="dt" sz="half" idx="6"/>
          </p:nvPr>
        </p:nvSpPr>
        <p:spPr>
          <a:prstGeom prst="rect">
            <a:avLst/>
          </a:prstGeom>
        </p:spPr>
        <p:txBody>
          <a:bodyPr vert="horz" wrap="square" lIns="0" tIns="5080" rIns="0" bIns="0" rtlCol="0">
            <a:spAutoFit/>
          </a:bodyPr>
          <a:lstStyle/>
          <a:p>
            <a:pPr marL="12700">
              <a:lnSpc>
                <a:spcPct val="100000"/>
              </a:lnSpc>
              <a:spcBef>
                <a:spcPts val="40"/>
              </a:spcBef>
            </a:pPr>
            <a:r>
              <a:rPr dirty="0"/>
              <a:t>School</a:t>
            </a:r>
            <a:r>
              <a:rPr spc="-35" dirty="0"/>
              <a:t> </a:t>
            </a:r>
            <a:r>
              <a:rPr dirty="0"/>
              <a:t>of</a:t>
            </a:r>
            <a:r>
              <a:rPr spc="15" dirty="0"/>
              <a:t> </a:t>
            </a:r>
            <a:r>
              <a:rPr dirty="0"/>
              <a:t>Computing</a:t>
            </a:r>
            <a:r>
              <a:rPr spc="-35" dirty="0"/>
              <a:t> </a:t>
            </a:r>
            <a:r>
              <a:rPr dirty="0"/>
              <a:t>-</a:t>
            </a:r>
            <a:r>
              <a:rPr spc="-15" dirty="0"/>
              <a:t> </a:t>
            </a:r>
            <a:r>
              <a:rPr spc="-25" dirty="0"/>
              <a:t>CSE</a:t>
            </a:r>
          </a:p>
        </p:txBody>
      </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fld id="{81D60167-4931-47E6-BA6A-407CBD079E47}" type="slidenum">
              <a:rPr spc="-25" dirty="0"/>
              <a:t>10</a:t>
            </a:fld>
            <a:endParaRPr spc="-25" dirty="0"/>
          </a:p>
        </p:txBody>
      </p:sp>
      <p:sp>
        <p:nvSpPr>
          <p:cNvPr id="3" name="object 3"/>
          <p:cNvSpPr txBox="1"/>
          <p:nvPr/>
        </p:nvSpPr>
        <p:spPr>
          <a:xfrm>
            <a:off x="688975" y="2644262"/>
            <a:ext cx="7767320" cy="1676400"/>
          </a:xfrm>
          <a:prstGeom prst="rect">
            <a:avLst/>
          </a:prstGeom>
        </p:spPr>
        <p:txBody>
          <a:bodyPr vert="horz" wrap="square" lIns="0" tIns="17780" rIns="0" bIns="0" rtlCol="0">
            <a:spAutoFit/>
          </a:bodyPr>
          <a:lstStyle/>
          <a:p>
            <a:pPr marL="12700" marR="5080" algn="just">
              <a:lnSpc>
                <a:spcPct val="150000"/>
              </a:lnSpc>
              <a:spcBef>
                <a:spcPts val="140"/>
              </a:spcBef>
            </a:pPr>
            <a:r>
              <a:rPr sz="2400" dirty="0">
                <a:latin typeface="Calibri"/>
                <a:cs typeface="Calibri"/>
              </a:rPr>
              <a:t>We</a:t>
            </a:r>
            <a:r>
              <a:rPr sz="2400" spc="509" dirty="0">
                <a:latin typeface="Calibri"/>
                <a:cs typeface="Calibri"/>
              </a:rPr>
              <a:t> </a:t>
            </a:r>
            <a:r>
              <a:rPr sz="2400" dirty="0">
                <a:latin typeface="Calibri"/>
                <a:cs typeface="Calibri"/>
              </a:rPr>
              <a:t>thank</a:t>
            </a:r>
            <a:r>
              <a:rPr sz="2400" spc="515" dirty="0">
                <a:latin typeface="Calibri"/>
                <a:cs typeface="Calibri"/>
              </a:rPr>
              <a:t> </a:t>
            </a:r>
            <a:r>
              <a:rPr sz="2400" dirty="0">
                <a:latin typeface="Calibri"/>
                <a:cs typeface="Calibri"/>
              </a:rPr>
              <a:t>God,</a:t>
            </a:r>
            <a:r>
              <a:rPr sz="2400" spc="535" dirty="0">
                <a:latin typeface="Calibri"/>
                <a:cs typeface="Calibri"/>
              </a:rPr>
              <a:t> </a:t>
            </a:r>
            <a:r>
              <a:rPr sz="2400" dirty="0">
                <a:latin typeface="Calibri"/>
                <a:cs typeface="Calibri"/>
              </a:rPr>
              <a:t>Our</a:t>
            </a:r>
            <a:r>
              <a:rPr sz="2400" spc="545" dirty="0">
                <a:latin typeface="Calibri"/>
                <a:cs typeface="Calibri"/>
              </a:rPr>
              <a:t> </a:t>
            </a:r>
            <a:r>
              <a:rPr sz="2400" dirty="0">
                <a:latin typeface="Calibri"/>
                <a:cs typeface="Calibri"/>
              </a:rPr>
              <a:t>Department,</a:t>
            </a:r>
            <a:r>
              <a:rPr sz="2400" spc="530" dirty="0">
                <a:latin typeface="Calibri"/>
                <a:cs typeface="Calibri"/>
              </a:rPr>
              <a:t> </a:t>
            </a:r>
            <a:r>
              <a:rPr sz="2400" dirty="0">
                <a:latin typeface="Calibri"/>
                <a:cs typeface="Calibri"/>
              </a:rPr>
              <a:t>Mentor,</a:t>
            </a:r>
            <a:r>
              <a:rPr sz="2400" spc="540" dirty="0">
                <a:latin typeface="Calibri"/>
                <a:cs typeface="Calibri"/>
              </a:rPr>
              <a:t> </a:t>
            </a:r>
            <a:r>
              <a:rPr sz="2400" dirty="0">
                <a:latin typeface="Calibri"/>
                <a:cs typeface="Calibri"/>
              </a:rPr>
              <a:t>Panel</a:t>
            </a:r>
            <a:r>
              <a:rPr sz="2400" spc="520" dirty="0">
                <a:latin typeface="Calibri"/>
                <a:cs typeface="Calibri"/>
              </a:rPr>
              <a:t> </a:t>
            </a:r>
            <a:r>
              <a:rPr sz="2400" spc="-10" dirty="0">
                <a:latin typeface="Calibri"/>
                <a:cs typeface="Calibri"/>
              </a:rPr>
              <a:t>Members, </a:t>
            </a:r>
            <a:r>
              <a:rPr sz="2400" dirty="0">
                <a:latin typeface="Calibri"/>
                <a:cs typeface="Calibri"/>
              </a:rPr>
              <a:t>Supportive</a:t>
            </a:r>
            <a:r>
              <a:rPr sz="2400" spc="580" dirty="0">
                <a:latin typeface="Calibri"/>
                <a:cs typeface="Calibri"/>
              </a:rPr>
              <a:t> </a:t>
            </a:r>
            <a:r>
              <a:rPr sz="2400" dirty="0">
                <a:latin typeface="Calibri"/>
                <a:cs typeface="Calibri"/>
              </a:rPr>
              <a:t>Professors</a:t>
            </a:r>
            <a:r>
              <a:rPr sz="2400" spc="45" dirty="0">
                <a:latin typeface="Calibri"/>
                <a:cs typeface="Calibri"/>
              </a:rPr>
              <a:t>  </a:t>
            </a:r>
            <a:r>
              <a:rPr sz="2400" dirty="0">
                <a:latin typeface="Calibri"/>
                <a:cs typeface="Calibri"/>
              </a:rPr>
              <a:t>and</a:t>
            </a:r>
            <a:r>
              <a:rPr sz="2400" spc="35" dirty="0">
                <a:latin typeface="Calibri"/>
                <a:cs typeface="Calibri"/>
              </a:rPr>
              <a:t>  </a:t>
            </a:r>
            <a:r>
              <a:rPr sz="2400" dirty="0">
                <a:latin typeface="Calibri"/>
                <a:cs typeface="Calibri"/>
              </a:rPr>
              <a:t>all</a:t>
            </a:r>
            <a:r>
              <a:rPr sz="2400" spc="580" dirty="0">
                <a:latin typeface="Calibri"/>
                <a:cs typeface="Calibri"/>
              </a:rPr>
              <a:t> </a:t>
            </a:r>
            <a:r>
              <a:rPr sz="2400" dirty="0">
                <a:latin typeface="Calibri"/>
                <a:cs typeface="Calibri"/>
              </a:rPr>
              <a:t>Technical</a:t>
            </a:r>
            <a:r>
              <a:rPr sz="2400" spc="35" dirty="0">
                <a:latin typeface="Calibri"/>
                <a:cs typeface="Calibri"/>
              </a:rPr>
              <a:t>  </a:t>
            </a:r>
            <a:r>
              <a:rPr sz="2400" dirty="0">
                <a:latin typeface="Calibri"/>
                <a:cs typeface="Calibri"/>
              </a:rPr>
              <a:t>and</a:t>
            </a:r>
            <a:r>
              <a:rPr sz="2400" spc="40" dirty="0">
                <a:latin typeface="Calibri"/>
                <a:cs typeface="Calibri"/>
              </a:rPr>
              <a:t>  </a:t>
            </a:r>
            <a:r>
              <a:rPr sz="2400" dirty="0">
                <a:latin typeface="Calibri"/>
                <a:cs typeface="Calibri"/>
              </a:rPr>
              <a:t>non</a:t>
            </a:r>
            <a:r>
              <a:rPr sz="2400" spc="585" dirty="0">
                <a:latin typeface="Calibri"/>
                <a:cs typeface="Calibri"/>
              </a:rPr>
              <a:t> </a:t>
            </a:r>
            <a:r>
              <a:rPr sz="2400" spc="-10" dirty="0">
                <a:latin typeface="Calibri"/>
                <a:cs typeface="Calibri"/>
              </a:rPr>
              <a:t>Technical </a:t>
            </a:r>
            <a:r>
              <a:rPr sz="2400" dirty="0">
                <a:latin typeface="Calibri"/>
                <a:cs typeface="Calibri"/>
              </a:rPr>
              <a:t>staff</a:t>
            </a:r>
            <a:r>
              <a:rPr sz="2400" spc="-5" dirty="0">
                <a:latin typeface="Calibri"/>
                <a:cs typeface="Calibri"/>
              </a:rPr>
              <a:t> </a:t>
            </a:r>
            <a:r>
              <a:rPr sz="2400" dirty="0">
                <a:latin typeface="Calibri"/>
                <a:cs typeface="Calibri"/>
              </a:rPr>
              <a:t>who</a:t>
            </a:r>
            <a:r>
              <a:rPr sz="2400" spc="-55" dirty="0">
                <a:latin typeface="Calibri"/>
                <a:cs typeface="Calibri"/>
              </a:rPr>
              <a:t> </a:t>
            </a:r>
            <a:r>
              <a:rPr sz="2400" dirty="0">
                <a:latin typeface="Calibri"/>
                <a:cs typeface="Calibri"/>
              </a:rPr>
              <a:t>helped</a:t>
            </a:r>
            <a:r>
              <a:rPr sz="2400" spc="-25" dirty="0">
                <a:latin typeface="Calibri"/>
                <a:cs typeface="Calibri"/>
              </a:rPr>
              <a:t> </a:t>
            </a:r>
            <a:r>
              <a:rPr sz="2400" dirty="0">
                <a:latin typeface="Calibri"/>
                <a:cs typeface="Calibri"/>
              </a:rPr>
              <a:t>us</a:t>
            </a:r>
            <a:r>
              <a:rPr sz="2400" spc="-45" dirty="0">
                <a:latin typeface="Calibri"/>
                <a:cs typeface="Calibri"/>
              </a:rPr>
              <a:t> </a:t>
            </a:r>
            <a:r>
              <a:rPr sz="2400" dirty="0">
                <a:latin typeface="Calibri"/>
                <a:cs typeface="Calibri"/>
              </a:rPr>
              <a:t>in</a:t>
            </a:r>
            <a:r>
              <a:rPr sz="2400" spc="-5" dirty="0">
                <a:latin typeface="Calibri"/>
                <a:cs typeface="Calibri"/>
              </a:rPr>
              <a:t> </a:t>
            </a:r>
            <a:r>
              <a:rPr sz="2400" dirty="0">
                <a:latin typeface="Calibri"/>
                <a:cs typeface="Calibri"/>
              </a:rPr>
              <a:t>our</a:t>
            </a:r>
            <a:r>
              <a:rPr sz="2400" spc="-50" dirty="0">
                <a:latin typeface="Calibri"/>
                <a:cs typeface="Calibri"/>
              </a:rPr>
              <a:t> </a:t>
            </a:r>
            <a:r>
              <a:rPr sz="2400" dirty="0">
                <a:latin typeface="Calibri"/>
                <a:cs typeface="Calibri"/>
              </a:rPr>
              <a:t>Product</a:t>
            </a:r>
            <a:r>
              <a:rPr sz="2400" spc="-50" dirty="0">
                <a:latin typeface="Calibri"/>
                <a:cs typeface="Calibri"/>
              </a:rPr>
              <a:t> </a:t>
            </a:r>
            <a:r>
              <a:rPr sz="2400" spc="-10" dirty="0">
                <a:latin typeface="Calibri"/>
                <a:cs typeface="Calibri"/>
              </a:rPr>
              <a:t>Development.</a:t>
            </a:r>
            <a:endParaRPr sz="24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476</TotalTime>
  <Words>602</Words>
  <Application>Microsoft Office PowerPoint</Application>
  <PresentationFormat>On-screen Show (4:3)</PresentationFormat>
  <Paragraphs>77</Paragraphs>
  <Slides>10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MT</vt:lpstr>
      <vt:lpstr>Calibri</vt:lpstr>
      <vt:lpstr>Times New Roman</vt:lpstr>
      <vt:lpstr>Office Theme</vt:lpstr>
      <vt:lpstr>CYBER ATTACK DETECTION AND PREVENTION</vt:lpstr>
      <vt:lpstr>AGENDA</vt:lpstr>
      <vt:lpstr>INTRODUCTION</vt:lpstr>
      <vt:lpstr>Problem Statement</vt:lpstr>
      <vt:lpstr>Existing Solution</vt:lpstr>
      <vt:lpstr>Existing Architecture</vt:lpstr>
      <vt:lpstr>Proposed Solution</vt:lpstr>
      <vt:lpstr>Proposed Architecture</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SUNFLOWER - AI BASED UV MONITOR</dc:title>
  <dc:creator>4373 1158</dc:creator>
  <cp:lastModifiedBy>surya vamsi</cp:lastModifiedBy>
  <cp:revision>12</cp:revision>
  <dcterms:created xsi:type="dcterms:W3CDTF">2026-02-23T08:55:19Z</dcterms:created>
  <dcterms:modified xsi:type="dcterms:W3CDTF">2026-02-25T07:39:41Z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2025-04-21T00:00:00Z</vt:filetime>
  </property>
  <property fmtid="{D5CDD505-2E9C-101B-9397-08002B2CF9AE}" pid="3" name="LastSaved">
    <vt:filetime>2026-02-23T00:00:00Z</vt:filetime>
  </property>
</Properties>
</file>